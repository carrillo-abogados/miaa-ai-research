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F5CEFE7B-D1C7-4C3C-9645-503A15BC1C44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CA7FCF9-570B-482F-BD08-C08DD2DB58D3}"/>
              </a:ext>
            </a:extLst>
          </p:cNvPr>
          <p:cNvSpPr txBox="1"/>
          <p:nvPr/>
        </p:nvSpPr>
        <p:spPr>
          <a:xfrm>
            <a:off x="914400" y="762000"/>
            <a:ext cx="660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 b="1">
                <a:solidFill>
                  <a:srgbClr val="F5A623"/>
                </a:solidFill>
                <a:latin typeface="Segoe UI"/>
                <a:cs typeface="Segoe UI"/>
              </a:rPr>
              <a:t>PROYECTO FINAL  |  ANÁLISIS DE DATOS I</a:t>
            </a:r>
            <a:endParaRPr lang="es-CO" sz="1400" b="1">
              <a:solidFill>
                <a:srgbClr val="F5A623"/>
              </a:solidFill>
              <a:latin typeface="Segoe UI"/>
              <a:cs typeface="Segoe UI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20B209A-3F2F-4755-8316-E9FFBA61EAA2}"/>
              </a:ext>
            </a:extLst>
          </p:cNvPr>
          <p:cNvSpPr txBox="1"/>
          <p:nvPr/>
        </p:nvSpPr>
        <p:spPr>
          <a:xfrm>
            <a:off x="914400" y="1270000"/>
            <a:ext cx="6604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4400" b="1">
                <a:solidFill>
                  <a:srgbClr val="FFFFFF"/>
                </a:solidFill>
                <a:latin typeface="Segoe UI"/>
                <a:cs typeface="Segoe UI"/>
              </a:rPr>
              <a:t>Asistente Virtual
Legal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49A2299-72B4-484D-BC10-B536C8567DAB}"/>
              </a:ext>
            </a:extLst>
          </p:cNvPr>
          <p:cNvSpPr txBox="1"/>
          <p:nvPr/>
        </p:nvSpPr>
        <p:spPr>
          <a:xfrm>
            <a:off x="914400" y="2921000"/>
            <a:ext cx="660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700">
                <a:solidFill>
                  <a:srgbClr val="CBD5E1"/>
                </a:solidFill>
                <a:latin typeface="Segoe UI"/>
                <a:cs typeface="Segoe UI"/>
              </a:rPr>
              <a:t>Cómo la inteligencia artificial puede transformar
un bufete de abogados tradicional</a:t>
            </a:r>
            <a:endParaRPr lang="es-CO" sz="1700">
              <a:solidFill>
                <a:srgbClr val="CBD5E1"/>
              </a:solidFill>
              <a:latin typeface="Segoe UI"/>
              <a:cs typeface="Segoe UI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F79B33A-2DE3-4760-A65C-03CCA9D9E579}"/>
              </a:ext>
            </a:extLst>
          </p:cNvPr>
          <p:cNvSpPr/>
          <p:nvPr/>
        </p:nvSpPr>
        <p:spPr>
          <a:xfrm>
            <a:off x="914400" y="3759200"/>
            <a:ext cx="1016000" cy="381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8CD0C15-F979-4DDE-B488-281D5D1F37E9}"/>
              </a:ext>
            </a:extLst>
          </p:cNvPr>
          <p:cNvSpPr txBox="1"/>
          <p:nvPr/>
        </p:nvSpPr>
        <p:spPr>
          <a:xfrm>
            <a:off x="914400" y="40132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b="1">
                <a:solidFill>
                  <a:srgbClr val="FFFFFF"/>
                </a:solidFill>
                <a:latin typeface="Segoe UI"/>
                <a:cs typeface="Segoe UI"/>
              </a:rPr>
              <a:t>Alexis Jaramillo Martínez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F316927-12B2-49F7-9CE8-4B11E3DEC990}"/>
              </a:ext>
            </a:extLst>
          </p:cNvPr>
          <p:cNvSpPr txBox="1"/>
          <p:nvPr/>
        </p:nvSpPr>
        <p:spPr>
          <a:xfrm>
            <a:off x="914400" y="44196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500">
                <a:solidFill>
                  <a:srgbClr val="94A3B8"/>
                </a:solidFill>
                <a:latin typeface="Segoe UI"/>
                <a:cs typeface="Segoe UI"/>
              </a:rPr>
              <a:t>Maestría en IA Aplicada  —  Universidad Icesi</a:t>
            </a:r>
            <a:endParaRPr lang="es-CO" sz="15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EE2EAE4-171A-4339-BCFC-52907314BCDF}"/>
              </a:ext>
            </a:extLst>
          </p:cNvPr>
          <p:cNvSpPr txBox="1"/>
          <p:nvPr/>
        </p:nvSpPr>
        <p:spPr>
          <a:xfrm>
            <a:off x="914400" y="47498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500">
                <a:solidFill>
                  <a:srgbClr val="94A3B8"/>
                </a:solidFill>
                <a:latin typeface="Segoe UI"/>
                <a:cs typeface="Segoe UI"/>
              </a:rPr>
              <a:t>Prof. José Armando Ordóñez Córdoba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78B0912-079A-4345-9345-14DF4CCF758A}"/>
              </a:ext>
            </a:extLst>
          </p:cNvPr>
          <p:cNvSpPr txBox="1"/>
          <p:nvPr/>
        </p:nvSpPr>
        <p:spPr>
          <a:xfrm>
            <a:off x="914400" y="50800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500">
                <a:solidFill>
                  <a:srgbClr val="94A3B8"/>
                </a:solidFill>
                <a:latin typeface="Segoe UI"/>
                <a:cs typeface="Segoe UI"/>
              </a:rPr>
              <a:t>Marzo 2026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BC8D25EB-9719-40D6-A3B6-7AA6FBA0779D}"/>
              </a:ext>
            </a:extLst>
          </p:cNvPr>
          <p:cNvSpPr/>
          <p:nvPr/>
        </p:nvSpPr>
        <p:spPr>
          <a:xfrm>
            <a:off x="8255000" y="2540000"/>
            <a:ext cx="3403600" cy="2921000"/>
          </a:xfrm>
          <a:prstGeom prst="roundRect">
            <a:avLst/>
          </a:prstGeom>
          <a:solidFill>
            <a:srgbClr val="1E293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B8326A4-F598-4BB4-9D81-39758013E74A}"/>
              </a:ext>
            </a:extLst>
          </p:cNvPr>
          <p:cNvSpPr/>
          <p:nvPr/>
        </p:nvSpPr>
        <p:spPr>
          <a:xfrm>
            <a:off x="8255000" y="2540000"/>
            <a:ext cx="63500" cy="29210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333A060-A0E3-465A-858B-550BD19BC09F}"/>
              </a:ext>
            </a:extLst>
          </p:cNvPr>
          <p:cNvSpPr txBox="1"/>
          <p:nvPr/>
        </p:nvSpPr>
        <p:spPr>
          <a:xfrm>
            <a:off x="8534400" y="2768600"/>
            <a:ext cx="2870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F5A623"/>
                </a:solidFill>
                <a:latin typeface="Segoe UI"/>
                <a:cs typeface="Segoe UI"/>
              </a:rPr>
              <a:t>Empresa real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78FADB9-913B-403C-85C0-E29070651502}"/>
              </a:ext>
            </a:extLst>
          </p:cNvPr>
          <p:cNvSpPr txBox="1"/>
          <p:nvPr/>
        </p:nvSpPr>
        <p:spPr>
          <a:xfrm>
            <a:off x="8534400" y="3098800"/>
            <a:ext cx="2870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700">
                <a:solidFill>
                  <a:srgbClr val="FFFFFF"/>
                </a:solidFill>
                <a:latin typeface="Segoe UI"/>
                <a:cs typeface="Segoe UI"/>
              </a:rPr>
              <a:t>Carrillo ABGD SAS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8F1AA9D-2D19-4ECA-843A-78AACDAE1DC9}"/>
              </a:ext>
            </a:extLst>
          </p:cNvPr>
          <p:cNvSpPr txBox="1"/>
          <p:nvPr/>
        </p:nvSpPr>
        <p:spPr>
          <a:xfrm>
            <a:off x="8534400" y="3454400"/>
            <a:ext cx="2870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>
                <a:solidFill>
                  <a:srgbClr val="94A3B8"/>
                </a:solidFill>
                <a:latin typeface="Segoe UI"/>
                <a:cs typeface="Segoe UI"/>
              </a:rPr>
              <a:t>25 años de trayectoria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1BC4E855-3CFF-4F85-9C71-345B61FEFC88}"/>
              </a:ext>
            </a:extLst>
          </p:cNvPr>
          <p:cNvSpPr/>
          <p:nvPr/>
        </p:nvSpPr>
        <p:spPr>
          <a:xfrm>
            <a:off x="8534400" y="3937000"/>
            <a:ext cx="762000" cy="25400"/>
          </a:xfrm>
          <a:prstGeom prst="rect">
            <a:avLst/>
          </a:prstGeom>
          <a:solidFill>
            <a:srgbClr val="47556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A6EA544-5646-4200-91EE-7A40D246AB21}"/>
              </a:ext>
            </a:extLst>
          </p:cNvPr>
          <p:cNvSpPr txBox="1"/>
          <p:nvPr/>
        </p:nvSpPr>
        <p:spPr>
          <a:xfrm>
            <a:off x="8534400" y="4165600"/>
            <a:ext cx="2870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F5A623"/>
                </a:solidFill>
                <a:latin typeface="Segoe UI"/>
                <a:cs typeface="Segoe UI"/>
              </a:rPr>
              <a:t>Metodología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67A8049-5ADE-43D2-ABC7-39393C9A1DEC}"/>
              </a:ext>
            </a:extLst>
          </p:cNvPr>
          <p:cNvSpPr txBox="1"/>
          <p:nvPr/>
        </p:nvSpPr>
        <p:spPr>
          <a:xfrm>
            <a:off x="8534400" y="4495800"/>
            <a:ext cx="2870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700">
                <a:solidFill>
                  <a:srgbClr val="FFFFFF"/>
                </a:solidFill>
                <a:latin typeface="Segoe UI"/>
                <a:cs typeface="Segoe UI"/>
              </a:rPr>
              <a:t>CRISP-DM (6 fases)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D0D7176C-39D2-4869-B273-6F120136179D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0195088-3DF3-4F99-8CCF-4739726C686D}"/>
              </a:ext>
            </a:extLst>
          </p:cNvPr>
          <p:cNvSpPr/>
          <p:nvPr/>
        </p:nvSpPr>
        <p:spPr>
          <a:xfrm>
            <a:off x="0" y="965200"/>
            <a:ext cx="12192000" cy="381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C70E507-BB13-44D0-97B2-F4439CBAFD41}"/>
              </a:ext>
            </a:extLst>
          </p:cNvPr>
          <p:cNvSpPr/>
          <p:nvPr/>
        </p:nvSpPr>
        <p:spPr>
          <a:xfrm>
            <a:off x="457200" y="203200"/>
            <a:ext cx="508000" cy="508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1600" b="1">
                <a:solidFill>
                  <a:srgbClr val="FFFFFF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707E925-787E-4643-AB9E-B397105B3DFA}"/>
              </a:ext>
            </a:extLst>
          </p:cNvPr>
          <p:cNvSpPr txBox="1"/>
          <p:nvPr/>
        </p:nvSpPr>
        <p:spPr>
          <a:xfrm>
            <a:off x="1092200" y="203200"/>
            <a:ext cx="508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400" b="1">
                <a:solidFill>
                  <a:srgbClr val="FFFFFF"/>
                </a:solidFill>
                <a:latin typeface="Segoe UI"/>
                <a:cs typeface="Segoe UI"/>
              </a:rPr>
              <a:t>El Problema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B06DD1B-B608-42AD-A97C-C46BF00F31D5}"/>
              </a:ext>
            </a:extLst>
          </p:cNvPr>
          <p:cNvSpPr txBox="1"/>
          <p:nvPr/>
        </p:nvSpPr>
        <p:spPr>
          <a:xfrm>
            <a:off x="1092200" y="609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B0C4DE"/>
                </a:solidFill>
                <a:latin typeface="Segoe UI"/>
                <a:cs typeface="Segoe UI"/>
              </a:rPr>
              <a:t>Por qué este proyecto es relevante</a:t>
            </a:r>
            <a:endParaRPr lang="es-CO" sz="1400">
              <a:solidFill>
                <a:srgbClr val="B0C4DE"/>
              </a:solidFill>
              <a:latin typeface="Segoe UI"/>
              <a:cs typeface="Segoe UI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3D46A3C-25F3-48F1-A82A-84D0DFA13CB7}"/>
              </a:ext>
            </a:extLst>
          </p:cNvPr>
          <p:cNvSpPr txBox="1"/>
          <p:nvPr/>
        </p:nvSpPr>
        <p:spPr>
          <a:xfrm>
            <a:off x="457200" y="65532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Alexis Jaramillo | MIAA 2026-1 | U. Icesi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30C010A-6D19-4743-8DAB-55E119C056D0}"/>
              </a:ext>
            </a:extLst>
          </p:cNvPr>
          <p:cNvSpPr txBox="1"/>
          <p:nvPr/>
        </p:nvSpPr>
        <p:spPr>
          <a:xfrm>
            <a:off x="11176000" y="65532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2/11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B163511D-118D-482F-9DB0-A7333CF1AE6A}"/>
              </a:ext>
            </a:extLst>
          </p:cNvPr>
          <p:cNvSpPr txBox="1"/>
          <p:nvPr/>
        </p:nvSpPr>
        <p:spPr>
          <a:xfrm>
            <a:off x="508000" y="1143000"/>
            <a:ext cx="546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0F172A"/>
                </a:solidFill>
                <a:latin typeface="Segoe UI"/>
                <a:cs typeface="Segoe UI"/>
              </a:rPr>
              <a:t>Carrillo Abogados: 25 años protegiendo empresas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3C267A3C-CD3A-47F4-B78F-9F4F5AA5AD42}"/>
              </a:ext>
            </a:extLst>
          </p:cNvPr>
          <p:cNvSpPr txBox="1"/>
          <p:nvPr/>
        </p:nvSpPr>
        <p:spPr>
          <a:xfrm>
            <a:off x="508000" y="1524000"/>
            <a:ext cx="5461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334155"/>
                </a:solidFill>
                <a:latin typeface="Segoe UI"/>
                <a:cs typeface="Segoe UI"/>
              </a:rPr>
              <a:t>Fundado en 2001 en Cali, Colombia, el bufete Carrillo ABGD SAS es reconocido por su trato personalizado y sus 5 áreas de especialización legal empresarial. Con 7 abogados y el liderazgo del Dr. Omar Carrillo (15 años ante la SIC), atiende empresas privadas y públicas en todo el país.
Sin embargo, su crecimiento está limitado por procesos manuales que no escalan:</a:t>
            </a:r>
            <a:endParaRPr lang="es-CO" sz="1400">
              <a:solidFill>
                <a:srgbClr val="334155"/>
              </a:solidFill>
              <a:latin typeface="Segoe UI"/>
              <a:cs typeface="Segoe UI"/>
            </a:endParaRP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F72C0BAA-3887-49C4-8D4F-4BD5A8195FC3}"/>
              </a:ext>
            </a:extLst>
          </p:cNvPr>
          <p:cNvSpPr txBox="1"/>
          <p:nvPr/>
        </p:nvSpPr>
        <p:spPr>
          <a:xfrm>
            <a:off x="6477000" y="11430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0F172A"/>
                </a:solidFill>
                <a:latin typeface="Segoe UI"/>
                <a:cs typeface="Segoe UI"/>
              </a:rPr>
              <a:t>La oportunidad</a:t>
            </a:r>
          </a:p>
        </p:txBody>
      </p:sp>
      <p:sp>
        <p:nvSpPr>
          <p:cNvPr id="96" name="Rectángulo: esquinas redondeadas 95">
            <a:extLst>
              <a:ext uri="{FF2B5EF4-FFF2-40B4-BE49-F238E27FC236}">
                <a16:creationId xmlns:a16="http://schemas.microsoft.com/office/drawing/2014/main" id="{76D8EE19-8A5E-4B31-8787-92186BE33A05}"/>
              </a:ext>
            </a:extLst>
          </p:cNvPr>
          <p:cNvSpPr/>
          <p:nvPr/>
        </p:nvSpPr>
        <p:spPr>
          <a:xfrm>
            <a:off x="6477000" y="1549400"/>
            <a:ext cx="5283200" cy="1422400"/>
          </a:xfrm>
          <a:prstGeom prst="roundRect">
            <a:avLst/>
          </a:prstGeom>
          <a:solidFill>
            <a:srgbClr val="F0F4F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78F5C8FA-D8B5-40B2-BA75-9BD31F039DFE}"/>
              </a:ext>
            </a:extLst>
          </p:cNvPr>
          <p:cNvSpPr txBox="1"/>
          <p:nvPr/>
        </p:nvSpPr>
        <p:spPr>
          <a:xfrm>
            <a:off x="6654800" y="1651000"/>
            <a:ext cx="49276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334155"/>
                </a:solidFill>
                <a:latin typeface="Segoe UI"/>
                <a:cs typeface="Segoe UI"/>
              </a:rPr>
              <a:t>El 62% de las consultas que reciben son preguntas frecuentes que se repiten una y otra vez. Esto consume 3.2 horas diarias de cada abogado en tareas que podrían automatizarse con inteligencia artificial.</a:t>
            </a:r>
            <a:endParaRPr lang="es-CO" sz="1400">
              <a:solidFill>
                <a:srgbClr val="334155"/>
              </a:solidFill>
              <a:latin typeface="Segoe UI"/>
              <a:cs typeface="Segoe UI"/>
            </a:endParaRP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912E9B5A-F70F-4A38-92CA-11A1D007D045}"/>
              </a:ext>
            </a:extLst>
          </p:cNvPr>
          <p:cNvSpPr txBox="1"/>
          <p:nvPr/>
        </p:nvSpPr>
        <p:spPr>
          <a:xfrm>
            <a:off x="6477000" y="3098800"/>
            <a:ext cx="528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 b="1">
                <a:solidFill>
                  <a:srgbClr val="1E407A"/>
                </a:solidFill>
                <a:latin typeface="Segoe UI"/>
                <a:cs typeface="Segoe UI"/>
              </a:rPr>
              <a:t>Ningún competidor en Colombia ofrece esta solución</a:t>
            </a:r>
            <a:endParaRPr lang="es-CO" sz="1400" b="1">
              <a:solidFill>
                <a:srgbClr val="1E407A"/>
              </a:solidFill>
              <a:latin typeface="Segoe UI"/>
              <a:cs typeface="Segoe UI"/>
            </a:endParaRPr>
          </a:p>
        </p:txBody>
      </p:sp>
      <p:sp>
        <p:nvSpPr>
          <p:cNvPr id="99" name="Rectángulo: esquinas redondeadas 98">
            <a:extLst>
              <a:ext uri="{FF2B5EF4-FFF2-40B4-BE49-F238E27FC236}">
                <a16:creationId xmlns:a16="http://schemas.microsoft.com/office/drawing/2014/main" id="{C606689C-FCA5-4C6B-922A-580C3DADF971}"/>
              </a:ext>
            </a:extLst>
          </p:cNvPr>
          <p:cNvSpPr/>
          <p:nvPr/>
        </p:nvSpPr>
        <p:spPr>
          <a:xfrm>
            <a:off x="6477000" y="3454400"/>
            <a:ext cx="5283200" cy="1270000"/>
          </a:xfrm>
          <a:prstGeom prst="roundRect">
            <a:avLst/>
          </a:prstGeom>
          <a:solidFill>
            <a:srgbClr val="F0F4F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427DE959-FFE0-4CC7-91CF-CD39E80C54F9}"/>
              </a:ext>
            </a:extLst>
          </p:cNvPr>
          <p:cNvSpPr txBox="1"/>
          <p:nvPr/>
        </p:nvSpPr>
        <p:spPr>
          <a:xfrm>
            <a:off x="6654800" y="3530600"/>
            <a:ext cx="4927600" cy="1117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334155"/>
                </a:solidFill>
                <a:latin typeface="Segoe UI"/>
                <a:cs typeface="Segoe UI"/>
              </a:rPr>
              <a:t>Harvey AI (OpenAI) y CoCounsel (Thomson Reuters) son referentes globales, pero operan exclusivamente en inglés. No existe una solución que trabaje sobre el corpus jurídico colombiano de forma nativa.</a:t>
            </a:r>
            <a:endParaRPr lang="es-CO" sz="1400">
              <a:solidFill>
                <a:srgbClr val="334155"/>
              </a:solidFill>
              <a:latin typeface="Segoe UI"/>
              <a:cs typeface="Segoe UI"/>
            </a:endParaRPr>
          </a:p>
        </p:txBody>
      </p:sp>
      <p:sp>
        <p:nvSpPr>
          <p:cNvPr id="101" name="Rectángulo: esquinas redondeadas 100">
            <a:extLst>
              <a:ext uri="{FF2B5EF4-FFF2-40B4-BE49-F238E27FC236}">
                <a16:creationId xmlns:a16="http://schemas.microsoft.com/office/drawing/2014/main" id="{228FC968-8E94-44A5-B9B8-C3FBF011E4AE}"/>
              </a:ext>
            </a:extLst>
          </p:cNvPr>
          <p:cNvSpPr/>
          <p:nvPr/>
        </p:nvSpPr>
        <p:spPr>
          <a:xfrm>
            <a:off x="508000" y="5461000"/>
            <a:ext cx="11252200" cy="660400"/>
          </a:xfrm>
          <a:prstGeom prst="round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0B4C36AD-3111-4848-B0D9-5AD33EBE68DE}"/>
              </a:ext>
            </a:extLst>
          </p:cNvPr>
          <p:cNvSpPr/>
          <p:nvPr/>
        </p:nvSpPr>
        <p:spPr>
          <a:xfrm>
            <a:off x="508000" y="5461000"/>
            <a:ext cx="63500" cy="6604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17DDAFE0-0B4A-4B43-8FB6-BB0CE406B87D}"/>
              </a:ext>
            </a:extLst>
          </p:cNvPr>
          <p:cNvSpPr txBox="1"/>
          <p:nvPr/>
        </p:nvSpPr>
        <p:spPr>
          <a:xfrm>
            <a:off x="736600" y="5537200"/>
            <a:ext cx="10845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s-MX" sz="1400" b="1" dirty="0">
                <a:solidFill>
                  <a:srgbClr val="F5A623"/>
                </a:solidFill>
                <a:latin typeface="Segoe UI"/>
                <a:cs typeface="Segoe UI"/>
              </a:rPr>
              <a:t>Pregunta: ¿Cómo reducir en 75% el tiempo de respuesta y automatizar el 70% de consultas, </a:t>
            </a:r>
          </a:p>
          <a:p>
            <a:pPr algn="ctr"/>
            <a:r>
              <a:rPr lang="es-MX" sz="1400" b="1" dirty="0">
                <a:solidFill>
                  <a:srgbClr val="F5A623"/>
                </a:solidFill>
                <a:latin typeface="Segoe UI"/>
                <a:cs typeface="Segoe UI"/>
              </a:rPr>
              <a:t>liberando 400 horas facturables anuales?</a:t>
            </a:r>
            <a:endParaRPr lang="es-CO" sz="1400" b="1" dirty="0">
              <a:solidFill>
                <a:srgbClr val="F5A623"/>
              </a:solidFill>
              <a:latin typeface="Segoe UI"/>
              <a:cs typeface="Segoe UI"/>
            </a:endParaRPr>
          </a:p>
        </p:txBody>
      </p:sp>
      <p:sp>
        <p:nvSpPr>
          <p:cNvPr id="104" name="Rectángulo: esquinas redondeadas 103">
            <a:extLst>
              <a:ext uri="{FF2B5EF4-FFF2-40B4-BE49-F238E27FC236}">
                <a16:creationId xmlns:a16="http://schemas.microsoft.com/office/drawing/2014/main" id="{9566B970-46D8-40A7-B6D8-1719D2FFC50B}"/>
              </a:ext>
            </a:extLst>
          </p:cNvPr>
          <p:cNvSpPr/>
          <p:nvPr/>
        </p:nvSpPr>
        <p:spPr>
          <a:xfrm>
            <a:off x="508000" y="3429000"/>
            <a:ext cx="2667000" cy="863600"/>
          </a:xfrm>
          <a:prstGeom prst="round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D04198EB-6F0B-42F4-99B6-DEE95A7D3FE0}"/>
              </a:ext>
            </a:extLst>
          </p:cNvPr>
          <p:cNvSpPr/>
          <p:nvPr/>
        </p:nvSpPr>
        <p:spPr>
          <a:xfrm>
            <a:off x="508000" y="3429000"/>
            <a:ext cx="50800" cy="8636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75C98A80-ED41-43D6-9AB9-C7084EC22BF9}"/>
              </a:ext>
            </a:extLst>
          </p:cNvPr>
          <p:cNvSpPr txBox="1"/>
          <p:nvPr/>
        </p:nvSpPr>
        <p:spPr>
          <a:xfrm>
            <a:off x="685800" y="3530600"/>
            <a:ext cx="127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700" b="1">
                <a:solidFill>
                  <a:srgbClr val="F5A623"/>
                </a:solidFill>
                <a:latin typeface="Segoe UI"/>
                <a:cs typeface="Segoe UI"/>
              </a:rPr>
              <a:t>4.8 horas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15CF93AE-A47F-456B-81A3-907CFEC7F620}"/>
              </a:ext>
            </a:extLst>
          </p:cNvPr>
          <p:cNvSpPr txBox="1"/>
          <p:nvPr/>
        </p:nvSpPr>
        <p:spPr>
          <a:xfrm>
            <a:off x="685800" y="38862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94A3B8"/>
                </a:solidFill>
                <a:latin typeface="Segoe UI"/>
                <a:cs typeface="Segoe UI"/>
              </a:rPr>
              <a:t>para responder un lead nuevo</a:t>
            </a:r>
            <a:endParaRPr lang="es-CO" sz="11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108" name="Rectángulo: esquinas redondeadas 107">
            <a:extLst>
              <a:ext uri="{FF2B5EF4-FFF2-40B4-BE49-F238E27FC236}">
                <a16:creationId xmlns:a16="http://schemas.microsoft.com/office/drawing/2014/main" id="{88705074-18E6-4058-9D2E-7490B681E160}"/>
              </a:ext>
            </a:extLst>
          </p:cNvPr>
          <p:cNvSpPr/>
          <p:nvPr/>
        </p:nvSpPr>
        <p:spPr>
          <a:xfrm>
            <a:off x="3327400" y="3429000"/>
            <a:ext cx="2667000" cy="863600"/>
          </a:xfrm>
          <a:prstGeom prst="round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9" name="Rectángulo 108">
            <a:extLst>
              <a:ext uri="{FF2B5EF4-FFF2-40B4-BE49-F238E27FC236}">
                <a16:creationId xmlns:a16="http://schemas.microsoft.com/office/drawing/2014/main" id="{2FA0A166-75D6-4C5D-8A11-A8D8D79118C6}"/>
              </a:ext>
            </a:extLst>
          </p:cNvPr>
          <p:cNvSpPr/>
          <p:nvPr/>
        </p:nvSpPr>
        <p:spPr>
          <a:xfrm>
            <a:off x="3327400" y="3429000"/>
            <a:ext cx="50800" cy="863600"/>
          </a:xfrm>
          <a:prstGeom prst="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BB8BC8F0-DFB2-4B37-ADAE-010D810383A8}"/>
              </a:ext>
            </a:extLst>
          </p:cNvPr>
          <p:cNvSpPr txBox="1"/>
          <p:nvPr/>
        </p:nvSpPr>
        <p:spPr>
          <a:xfrm>
            <a:off x="3505200" y="3530600"/>
            <a:ext cx="127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700" b="1">
                <a:solidFill>
                  <a:srgbClr val="F5A623"/>
                </a:solidFill>
                <a:latin typeface="Segoe UI"/>
                <a:cs typeface="Segoe UI"/>
              </a:rPr>
              <a:t>35%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718CF956-DC7B-4683-A14B-B4FB29FC245F}"/>
              </a:ext>
            </a:extLst>
          </p:cNvPr>
          <p:cNvSpPr txBox="1"/>
          <p:nvPr/>
        </p:nvSpPr>
        <p:spPr>
          <a:xfrm>
            <a:off x="3505200" y="38862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94A3B8"/>
                </a:solidFill>
                <a:latin typeface="Segoe UI"/>
                <a:cs typeface="Segoe UI"/>
              </a:rPr>
              <a:t>de leads se pierden por demora</a:t>
            </a:r>
            <a:endParaRPr lang="es-CO" sz="11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112" name="Rectángulo: esquinas redondeadas 111">
            <a:extLst>
              <a:ext uri="{FF2B5EF4-FFF2-40B4-BE49-F238E27FC236}">
                <a16:creationId xmlns:a16="http://schemas.microsoft.com/office/drawing/2014/main" id="{F05F85A5-8B30-4927-8051-0583D1979A93}"/>
              </a:ext>
            </a:extLst>
          </p:cNvPr>
          <p:cNvSpPr/>
          <p:nvPr/>
        </p:nvSpPr>
        <p:spPr>
          <a:xfrm>
            <a:off x="508000" y="4394200"/>
            <a:ext cx="2667000" cy="863600"/>
          </a:xfrm>
          <a:prstGeom prst="round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961DE6F5-AEDA-429C-BDF3-ED9FED48CC0B}"/>
              </a:ext>
            </a:extLst>
          </p:cNvPr>
          <p:cNvSpPr/>
          <p:nvPr/>
        </p:nvSpPr>
        <p:spPr>
          <a:xfrm>
            <a:off x="508000" y="4394200"/>
            <a:ext cx="50800" cy="8636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BF3E3C55-C384-40ED-B51A-ED1FFA5FECD7}"/>
              </a:ext>
            </a:extLst>
          </p:cNvPr>
          <p:cNvSpPr txBox="1"/>
          <p:nvPr/>
        </p:nvSpPr>
        <p:spPr>
          <a:xfrm>
            <a:off x="685800" y="4495800"/>
            <a:ext cx="127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700" b="1">
                <a:solidFill>
                  <a:srgbClr val="F5A623"/>
                </a:solidFill>
                <a:latin typeface="Segoe UI"/>
                <a:cs typeface="Segoe UI"/>
              </a:rPr>
              <a:t>20 leads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B1E9DC48-1FCA-4E43-9E20-565CDDEC89AE}"/>
              </a:ext>
            </a:extLst>
          </p:cNvPr>
          <p:cNvSpPr txBox="1"/>
          <p:nvPr/>
        </p:nvSpPr>
        <p:spPr>
          <a:xfrm>
            <a:off x="685800" y="4753897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 dirty="0">
                <a:solidFill>
                  <a:srgbClr val="94A3B8"/>
                </a:solidFill>
                <a:latin typeface="Segoe UI"/>
                <a:cs typeface="Segoe UI"/>
              </a:rPr>
              <a:t>por mes, capacidad manual limitada</a:t>
            </a:r>
            <a:endParaRPr lang="es-CO" sz="1100" dirty="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116" name="Rectángulo: esquinas redondeadas 115">
            <a:extLst>
              <a:ext uri="{FF2B5EF4-FFF2-40B4-BE49-F238E27FC236}">
                <a16:creationId xmlns:a16="http://schemas.microsoft.com/office/drawing/2014/main" id="{B34E65E6-E940-4DA4-B292-29E402979F6D}"/>
              </a:ext>
            </a:extLst>
          </p:cNvPr>
          <p:cNvSpPr/>
          <p:nvPr/>
        </p:nvSpPr>
        <p:spPr>
          <a:xfrm>
            <a:off x="3327400" y="4394200"/>
            <a:ext cx="2667000" cy="863600"/>
          </a:xfrm>
          <a:prstGeom prst="round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25C57FBD-CD6C-40D7-BBA4-E6F45D43EDA9}"/>
              </a:ext>
            </a:extLst>
          </p:cNvPr>
          <p:cNvSpPr/>
          <p:nvPr/>
        </p:nvSpPr>
        <p:spPr>
          <a:xfrm>
            <a:off x="3327400" y="4394200"/>
            <a:ext cx="50800" cy="863600"/>
          </a:xfrm>
          <a:prstGeom prst="rect">
            <a:avLst/>
          </a:prstGeom>
          <a:solidFill>
            <a:srgbClr val="8B5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5A9DEB78-C11B-4C16-99A8-C5D28B62B257}"/>
              </a:ext>
            </a:extLst>
          </p:cNvPr>
          <p:cNvSpPr txBox="1"/>
          <p:nvPr/>
        </p:nvSpPr>
        <p:spPr>
          <a:xfrm>
            <a:off x="3505200" y="4495800"/>
            <a:ext cx="127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700" b="1">
                <a:solidFill>
                  <a:srgbClr val="F5A623"/>
                </a:solidFill>
                <a:latin typeface="Segoe UI"/>
                <a:cs typeface="Segoe UI"/>
              </a:rPr>
              <a:t>$72M COP</a:t>
            </a:r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A6F7835C-A4B1-4DA0-A37E-6FBEEDAFE0CF}"/>
              </a:ext>
            </a:extLst>
          </p:cNvPr>
          <p:cNvSpPr txBox="1"/>
          <p:nvPr/>
        </p:nvSpPr>
        <p:spPr>
          <a:xfrm>
            <a:off x="3505200" y="4851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94A3B8"/>
                </a:solidFill>
                <a:latin typeface="Segoe UI"/>
                <a:cs typeface="Segoe UI"/>
              </a:rPr>
              <a:t>en horas facturables perdidas/año</a:t>
            </a:r>
            <a:endParaRPr lang="es-CO" sz="1100">
              <a:solidFill>
                <a:srgbClr val="94A3B8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 38">
            <a:extLst>
              <a:ext uri="{FF2B5EF4-FFF2-40B4-BE49-F238E27FC236}">
                <a16:creationId xmlns:a16="http://schemas.microsoft.com/office/drawing/2014/main" id="{CC6237F5-D204-42B3-9A46-AB02C218955C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6C4CFC7-365E-4885-A99F-C141C5717ABD}"/>
              </a:ext>
            </a:extLst>
          </p:cNvPr>
          <p:cNvSpPr/>
          <p:nvPr/>
        </p:nvSpPr>
        <p:spPr>
          <a:xfrm>
            <a:off x="0" y="965200"/>
            <a:ext cx="12192000" cy="381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05BD26E0-D256-4296-9A0C-DA11AFA8EDF3}"/>
              </a:ext>
            </a:extLst>
          </p:cNvPr>
          <p:cNvSpPr/>
          <p:nvPr/>
        </p:nvSpPr>
        <p:spPr>
          <a:xfrm>
            <a:off x="457200" y="203200"/>
            <a:ext cx="508000" cy="508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1600" b="1">
                <a:solidFill>
                  <a:srgbClr val="FFFFFF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8C89DDC-9A93-49FA-8014-F71D702286E7}"/>
              </a:ext>
            </a:extLst>
          </p:cNvPr>
          <p:cNvSpPr txBox="1"/>
          <p:nvPr/>
        </p:nvSpPr>
        <p:spPr>
          <a:xfrm>
            <a:off x="1092200" y="203200"/>
            <a:ext cx="635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2400" b="1">
                <a:solidFill>
                  <a:srgbClr val="FFFFFF"/>
                </a:solidFill>
                <a:latin typeface="Segoe UI"/>
                <a:cs typeface="Segoe UI"/>
              </a:rPr>
              <a:t>Objetivos y Métricas de Éxito</a:t>
            </a:r>
            <a:endParaRPr lang="es-CO" sz="24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BCABF4B-041C-4121-88EF-1DD2382BE574}"/>
              </a:ext>
            </a:extLst>
          </p:cNvPr>
          <p:cNvSpPr txBox="1"/>
          <p:nvPr/>
        </p:nvSpPr>
        <p:spPr>
          <a:xfrm>
            <a:off x="1092200" y="609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B0C4DE"/>
                </a:solidFill>
                <a:latin typeface="Segoe UI"/>
                <a:cs typeface="Segoe UI"/>
              </a:rPr>
              <a:t>Qué queremos lograr y cómo lo medimos</a:t>
            </a:r>
            <a:endParaRPr lang="es-CO" sz="1400">
              <a:solidFill>
                <a:srgbClr val="B0C4DE"/>
              </a:solidFill>
              <a:latin typeface="Segoe UI"/>
              <a:cs typeface="Segoe UI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3DAAE608-DEE4-41CC-A8D5-5D417BE96B54}"/>
              </a:ext>
            </a:extLst>
          </p:cNvPr>
          <p:cNvSpPr txBox="1"/>
          <p:nvPr/>
        </p:nvSpPr>
        <p:spPr>
          <a:xfrm>
            <a:off x="457200" y="65532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Alexis Jaramillo | MIAA 2026-1 | U. Icesi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B3275E0-C2A0-4D32-9F51-5F27AC70ABC7}"/>
              </a:ext>
            </a:extLst>
          </p:cNvPr>
          <p:cNvSpPr txBox="1"/>
          <p:nvPr/>
        </p:nvSpPr>
        <p:spPr>
          <a:xfrm>
            <a:off x="11176000" y="65532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3/11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8747F00-DC46-4DB6-95C2-6C006D1AD651}"/>
              </a:ext>
            </a:extLst>
          </p:cNvPr>
          <p:cNvSpPr txBox="1"/>
          <p:nvPr/>
        </p:nvSpPr>
        <p:spPr>
          <a:xfrm>
            <a:off x="457200" y="1143000"/>
            <a:ext cx="1130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1E407A"/>
                </a:solidFill>
                <a:latin typeface="Segoe UI"/>
                <a:cs typeface="Segoe UI"/>
              </a:rPr>
              <a:t>Construir un sistema inteligente que responda leads automáticamente en menos de 1 minuto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60037FD1-5EA7-4A45-BE57-110F0C51DB28}"/>
              </a:ext>
            </a:extLst>
          </p:cNvPr>
          <p:cNvSpPr/>
          <p:nvPr/>
        </p:nvSpPr>
        <p:spPr>
          <a:xfrm>
            <a:off x="457200" y="1625600"/>
            <a:ext cx="2667000" cy="16510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E2483A6-F56F-43F2-9187-C323F4027330}"/>
              </a:ext>
            </a:extLst>
          </p:cNvPr>
          <p:cNvSpPr/>
          <p:nvPr/>
        </p:nvSpPr>
        <p:spPr>
          <a:xfrm>
            <a:off x="457200" y="1625600"/>
            <a:ext cx="2667000" cy="635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E47EA4A-6F2E-4950-AE9F-1B79322C8C7A}"/>
              </a:ext>
            </a:extLst>
          </p:cNvPr>
          <p:cNvSpPr txBox="1"/>
          <p:nvPr/>
        </p:nvSpPr>
        <p:spPr>
          <a:xfrm>
            <a:off x="609600" y="1803400"/>
            <a:ext cx="2362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800" b="1">
                <a:solidFill>
                  <a:srgbClr val="0F172A"/>
                </a:solidFill>
                <a:latin typeface="Segoe UI"/>
                <a:cs typeface="Segoe UI"/>
              </a:rPr>
              <a:t>15x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535D95A6-566A-46E8-AC05-1D52342B6B71}"/>
              </a:ext>
            </a:extLst>
          </p:cNvPr>
          <p:cNvSpPr txBox="1"/>
          <p:nvPr/>
        </p:nvSpPr>
        <p:spPr>
          <a:xfrm>
            <a:off x="609600" y="2286000"/>
            <a:ext cx="2362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475569"/>
                </a:solidFill>
                <a:latin typeface="Segoe UI"/>
                <a:cs typeface="Segoe UI"/>
              </a:rPr>
              <a:t>más leads capturados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56870298-076A-409B-A2C2-6C35D2797DB2}"/>
              </a:ext>
            </a:extLst>
          </p:cNvPr>
          <p:cNvSpPr txBox="1"/>
          <p:nvPr/>
        </p:nvSpPr>
        <p:spPr>
          <a:xfrm>
            <a:off x="609600" y="2590800"/>
            <a:ext cx="2362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64748B"/>
                </a:solidFill>
                <a:latin typeface="Segoe UI"/>
                <a:cs typeface="Segoe UI"/>
              </a:rPr>
              <a:t>De 20 a 300+
leads por mes</a:t>
            </a:r>
            <a:endParaRPr lang="es-CO" sz="1400">
              <a:solidFill>
                <a:srgbClr val="64748B"/>
              </a:solidFill>
              <a:latin typeface="Segoe UI"/>
              <a:cs typeface="Segoe UI"/>
            </a:endParaRP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33838D4C-5C52-4FE5-AE79-4DE4ED8AB327}"/>
              </a:ext>
            </a:extLst>
          </p:cNvPr>
          <p:cNvSpPr/>
          <p:nvPr/>
        </p:nvSpPr>
        <p:spPr>
          <a:xfrm>
            <a:off x="3314700" y="1625600"/>
            <a:ext cx="2667000" cy="16510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1A2EEBE-E172-415C-BEFC-7005C37E2406}"/>
              </a:ext>
            </a:extLst>
          </p:cNvPr>
          <p:cNvSpPr/>
          <p:nvPr/>
        </p:nvSpPr>
        <p:spPr>
          <a:xfrm>
            <a:off x="3314700" y="1625600"/>
            <a:ext cx="2667000" cy="63500"/>
          </a:xfrm>
          <a:prstGeom prst="rect">
            <a:avLst/>
          </a:prstGeom>
          <a:solidFill>
            <a:srgbClr val="22C55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AC305A0-D835-4DD1-BD25-BA1643B67EA8}"/>
              </a:ext>
            </a:extLst>
          </p:cNvPr>
          <p:cNvSpPr txBox="1"/>
          <p:nvPr/>
        </p:nvSpPr>
        <p:spPr>
          <a:xfrm>
            <a:off x="3467100" y="1803400"/>
            <a:ext cx="2362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800" b="1">
                <a:solidFill>
                  <a:srgbClr val="0F172A"/>
                </a:solidFill>
                <a:latin typeface="Segoe UI"/>
                <a:cs typeface="Segoe UI"/>
              </a:rPr>
              <a:t>&lt;1 min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B4CBA86-45CF-4ACB-87A2-454CE7E72EB5}"/>
              </a:ext>
            </a:extLst>
          </p:cNvPr>
          <p:cNvSpPr txBox="1"/>
          <p:nvPr/>
        </p:nvSpPr>
        <p:spPr>
          <a:xfrm>
            <a:off x="3467100" y="2286000"/>
            <a:ext cx="2362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475569"/>
                </a:solidFill>
                <a:latin typeface="Segoe UI"/>
                <a:cs typeface="Segoe UI"/>
              </a:rPr>
              <a:t>tiempo de respuesta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4687F57-185E-427A-8937-0DB6A7448879}"/>
              </a:ext>
            </a:extLst>
          </p:cNvPr>
          <p:cNvSpPr txBox="1"/>
          <p:nvPr/>
        </p:nvSpPr>
        <p:spPr>
          <a:xfrm>
            <a:off x="3467100" y="2590800"/>
            <a:ext cx="2362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64748B"/>
                </a:solidFill>
                <a:latin typeface="Segoe UI"/>
                <a:cs typeface="Segoe UI"/>
              </a:rPr>
              <a:t>De 4.8 horas a
respuesta inmediata</a:t>
            </a:r>
            <a:endParaRPr lang="es-CO" sz="1400">
              <a:solidFill>
                <a:srgbClr val="64748B"/>
              </a:solidFill>
              <a:latin typeface="Segoe UI"/>
              <a:cs typeface="Segoe UI"/>
            </a:endParaRP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C7FFFE4-2D6D-4EE6-8D96-A545C870E0A8}"/>
              </a:ext>
            </a:extLst>
          </p:cNvPr>
          <p:cNvSpPr/>
          <p:nvPr/>
        </p:nvSpPr>
        <p:spPr>
          <a:xfrm>
            <a:off x="6172200" y="1625600"/>
            <a:ext cx="2667000" cy="16510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3F90B974-A90C-4157-A288-8F00E8E4A4D4}"/>
              </a:ext>
            </a:extLst>
          </p:cNvPr>
          <p:cNvSpPr/>
          <p:nvPr/>
        </p:nvSpPr>
        <p:spPr>
          <a:xfrm>
            <a:off x="6172200" y="1625600"/>
            <a:ext cx="2667000" cy="635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C53B8040-98D7-4320-BCEB-9D52864DCBEC}"/>
              </a:ext>
            </a:extLst>
          </p:cNvPr>
          <p:cNvSpPr txBox="1"/>
          <p:nvPr/>
        </p:nvSpPr>
        <p:spPr>
          <a:xfrm>
            <a:off x="6324600" y="1803400"/>
            <a:ext cx="2362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800" b="1">
                <a:solidFill>
                  <a:srgbClr val="0F172A"/>
                </a:solidFill>
                <a:latin typeface="Segoe UI"/>
                <a:cs typeface="Segoe UI"/>
              </a:rPr>
              <a:t>3x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DE3A05A-1DCA-4305-ACB5-63CDAF4B1D19}"/>
              </a:ext>
            </a:extLst>
          </p:cNvPr>
          <p:cNvSpPr txBox="1"/>
          <p:nvPr/>
        </p:nvSpPr>
        <p:spPr>
          <a:xfrm>
            <a:off x="6324600" y="2286000"/>
            <a:ext cx="2362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475569"/>
                </a:solidFill>
                <a:latin typeface="Segoe UI"/>
                <a:cs typeface="Segoe UI"/>
              </a:rPr>
              <a:t>más conversión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4C736F6B-1CBD-48D5-A05B-EF66744A7BE5}"/>
              </a:ext>
            </a:extLst>
          </p:cNvPr>
          <p:cNvSpPr txBox="1"/>
          <p:nvPr/>
        </p:nvSpPr>
        <p:spPr>
          <a:xfrm>
            <a:off x="6324600" y="2590800"/>
            <a:ext cx="2362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64748B"/>
                </a:solidFill>
                <a:latin typeface="Segoe UI"/>
                <a:cs typeface="Segoe UI"/>
              </a:rPr>
              <a:t>De 5% a 15%
en tasa de cierre</a:t>
            </a:r>
            <a:endParaRPr lang="es-CO" sz="1400">
              <a:solidFill>
                <a:srgbClr val="64748B"/>
              </a:solidFill>
              <a:latin typeface="Segoe UI"/>
              <a:cs typeface="Segoe UI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9A4D91C0-EA73-4AB9-90A9-C63BFE56F7C9}"/>
              </a:ext>
            </a:extLst>
          </p:cNvPr>
          <p:cNvSpPr/>
          <p:nvPr/>
        </p:nvSpPr>
        <p:spPr>
          <a:xfrm>
            <a:off x="9029700" y="1625600"/>
            <a:ext cx="2667000" cy="16510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2C162BBD-9BDB-423B-91E2-1A7598F282F4}"/>
              </a:ext>
            </a:extLst>
          </p:cNvPr>
          <p:cNvSpPr/>
          <p:nvPr/>
        </p:nvSpPr>
        <p:spPr>
          <a:xfrm>
            <a:off x="9029700" y="1625600"/>
            <a:ext cx="2667000" cy="63500"/>
          </a:xfrm>
          <a:prstGeom prst="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ECD19C5-2D86-40F3-9877-3B757EFB6B08}"/>
              </a:ext>
            </a:extLst>
          </p:cNvPr>
          <p:cNvSpPr txBox="1"/>
          <p:nvPr/>
        </p:nvSpPr>
        <p:spPr>
          <a:xfrm>
            <a:off x="9182100" y="1803400"/>
            <a:ext cx="2362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800" b="1">
                <a:solidFill>
                  <a:srgbClr val="0F172A"/>
                </a:solidFill>
                <a:latin typeface="Segoe UI"/>
                <a:cs typeface="Segoe UI"/>
              </a:rPr>
              <a:t>$72M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1F9F9F32-32FB-4573-B560-11376E5415AB}"/>
              </a:ext>
            </a:extLst>
          </p:cNvPr>
          <p:cNvSpPr txBox="1"/>
          <p:nvPr/>
        </p:nvSpPr>
        <p:spPr>
          <a:xfrm>
            <a:off x="9182100" y="2286000"/>
            <a:ext cx="2362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475569"/>
                </a:solidFill>
                <a:latin typeface="Segoe UI"/>
                <a:cs typeface="Segoe UI"/>
              </a:rPr>
              <a:t>COP recuperados/año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5D72B686-8B5E-4177-9CEB-22EDC3403204}"/>
              </a:ext>
            </a:extLst>
          </p:cNvPr>
          <p:cNvSpPr txBox="1"/>
          <p:nvPr/>
        </p:nvSpPr>
        <p:spPr>
          <a:xfrm>
            <a:off x="9182100" y="2590800"/>
            <a:ext cx="2362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400">
                <a:solidFill>
                  <a:srgbClr val="64748B"/>
                </a:solidFill>
                <a:latin typeface="Segoe UI"/>
                <a:cs typeface="Segoe UI"/>
              </a:rPr>
              <a:t>400 horas facturables
liberadas anualmente</a:t>
            </a: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77024A0F-AB1D-4B70-BED0-697C59BD9657}"/>
              </a:ext>
            </a:extLst>
          </p:cNvPr>
          <p:cNvSpPr/>
          <p:nvPr/>
        </p:nvSpPr>
        <p:spPr>
          <a:xfrm>
            <a:off x="457200" y="3556000"/>
            <a:ext cx="11303000" cy="2476500"/>
          </a:xfrm>
          <a:prstGeom prst="roundRect">
            <a:avLst/>
          </a:prstGeom>
          <a:solidFill>
            <a:srgbClr val="F0F4F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BC49A75B-67E0-4EAD-A8B0-B2B20FC61EF3}"/>
              </a:ext>
            </a:extLst>
          </p:cNvPr>
          <p:cNvSpPr txBox="1"/>
          <p:nvPr/>
        </p:nvSpPr>
        <p:spPr>
          <a:xfrm>
            <a:off x="685800" y="36576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600" b="1">
                <a:solidFill>
                  <a:srgbClr val="0F172A"/>
                </a:solidFill>
                <a:latin typeface="Segoe UI"/>
                <a:cs typeface="Segoe UI"/>
              </a:rPr>
              <a:t>Cómo medimos el éxito del modelo</a:t>
            </a:r>
            <a:endParaRPr lang="es-CO" sz="1600" b="1">
              <a:solidFill>
                <a:srgbClr val="0F172A"/>
              </a:solidFill>
              <a:latin typeface="Segoe UI"/>
              <a:cs typeface="Segoe UI"/>
            </a:endParaRPr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45E56E0C-7A8C-40F9-BB99-5C1373EE510C}"/>
              </a:ext>
            </a:extLst>
          </p:cNvPr>
          <p:cNvSpPr/>
          <p:nvPr/>
        </p:nvSpPr>
        <p:spPr>
          <a:xfrm>
            <a:off x="685800" y="4191000"/>
            <a:ext cx="127000" cy="127000"/>
          </a:xfrm>
          <a:prstGeom prst="ellipse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819C4B0E-B2D3-44B2-8FF6-11BF428523D9}"/>
              </a:ext>
            </a:extLst>
          </p:cNvPr>
          <p:cNvSpPr txBox="1"/>
          <p:nvPr/>
        </p:nvSpPr>
        <p:spPr>
          <a:xfrm>
            <a:off x="939800" y="4089400"/>
            <a:ext cx="215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1E407A"/>
                </a:solidFill>
                <a:latin typeface="Segoe UI"/>
                <a:cs typeface="Segoe UI"/>
              </a:rPr>
              <a:t>Lead Scoring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A6FABD13-FD2B-4C66-A1C0-5E2E4FA76127}"/>
              </a:ext>
            </a:extLst>
          </p:cNvPr>
          <p:cNvSpPr txBox="1"/>
          <p:nvPr/>
        </p:nvSpPr>
        <p:spPr>
          <a:xfrm>
            <a:off x="3200400" y="4089400"/>
            <a:ext cx="825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334155"/>
                </a:solidFill>
                <a:latin typeface="Segoe UI"/>
                <a:cs typeface="Segoe UI"/>
              </a:rPr>
              <a:t>El sistema califica cada lead de 0 a 100 puntos y lo clasifica como Caliente, Tibio o Frío</a:t>
            </a:r>
            <a:endParaRPr lang="es-CO" sz="1400">
              <a:solidFill>
                <a:srgbClr val="334155"/>
              </a:solidFill>
              <a:latin typeface="Segoe UI"/>
              <a:cs typeface="Segoe UI"/>
            </a:endParaRP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C3E7D698-2B34-488D-BC65-B658FA2911AB}"/>
              </a:ext>
            </a:extLst>
          </p:cNvPr>
          <p:cNvSpPr/>
          <p:nvPr/>
        </p:nvSpPr>
        <p:spPr>
          <a:xfrm>
            <a:off x="685800" y="4851400"/>
            <a:ext cx="127000" cy="127000"/>
          </a:xfrm>
          <a:prstGeom prst="ellipse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4D0A10DC-5F2A-46E0-A813-F3974EC26874}"/>
              </a:ext>
            </a:extLst>
          </p:cNvPr>
          <p:cNvSpPr txBox="1"/>
          <p:nvPr/>
        </p:nvSpPr>
        <p:spPr>
          <a:xfrm>
            <a:off x="939800" y="4749800"/>
            <a:ext cx="215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1E407A"/>
                </a:solidFill>
                <a:latin typeface="Segoe UI"/>
                <a:cs typeface="Segoe UI"/>
              </a:rPr>
              <a:t>Clasificación de intención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1092978A-4FB2-42AD-98E2-09CBC0B966FA}"/>
              </a:ext>
            </a:extLst>
          </p:cNvPr>
          <p:cNvSpPr txBox="1"/>
          <p:nvPr/>
        </p:nvSpPr>
        <p:spPr>
          <a:xfrm>
            <a:off x="3200400" y="4749800"/>
            <a:ext cx="825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334155"/>
                </a:solidFill>
                <a:latin typeface="Segoe UI"/>
                <a:cs typeface="Segoe UI"/>
              </a:rPr>
              <a:t>Identifica automáticamente cuál de las 5 áreas jurídicas necesita el cliente</a:t>
            </a:r>
            <a:endParaRPr lang="es-CO" sz="1400">
              <a:solidFill>
                <a:srgbClr val="334155"/>
              </a:solidFill>
              <a:latin typeface="Segoe UI"/>
              <a:cs typeface="Segoe UI"/>
            </a:endParaRP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C180FE0E-D3F6-4DF2-B29D-77B628C6F21C}"/>
              </a:ext>
            </a:extLst>
          </p:cNvPr>
          <p:cNvSpPr/>
          <p:nvPr/>
        </p:nvSpPr>
        <p:spPr>
          <a:xfrm>
            <a:off x="685800" y="5511800"/>
            <a:ext cx="127000" cy="127000"/>
          </a:xfrm>
          <a:prstGeom prst="ellipse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23D2E5BF-7DB7-4F9A-92DE-F81B4F89A014}"/>
              </a:ext>
            </a:extLst>
          </p:cNvPr>
          <p:cNvSpPr txBox="1"/>
          <p:nvPr/>
        </p:nvSpPr>
        <p:spPr>
          <a:xfrm>
            <a:off x="939800" y="5410200"/>
            <a:ext cx="215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1E407A"/>
                </a:solidFill>
                <a:latin typeface="Segoe UI"/>
                <a:cs typeface="Segoe UI"/>
              </a:rPr>
              <a:t>Respuesta automática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2A95C483-D889-4527-AFEA-77FF9CD273BA}"/>
              </a:ext>
            </a:extLst>
          </p:cNvPr>
          <p:cNvSpPr txBox="1"/>
          <p:nvPr/>
        </p:nvSpPr>
        <p:spPr>
          <a:xfrm>
            <a:off x="3200400" y="5410200"/>
            <a:ext cx="825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334155"/>
                </a:solidFill>
                <a:latin typeface="Segoe UI"/>
                <a:cs typeface="Segoe UI"/>
              </a:rPr>
              <a:t>Genera un email personalizado y profesional en menos de 60 segundos</a:t>
            </a:r>
            <a:endParaRPr lang="es-CO" sz="1400">
              <a:solidFill>
                <a:srgbClr val="334155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>
            <a:extLst>
              <a:ext uri="{FF2B5EF4-FFF2-40B4-BE49-F238E27FC236}">
                <a16:creationId xmlns:a16="http://schemas.microsoft.com/office/drawing/2014/main" id="{FE6705D3-37D3-40D7-872D-6C3A5A812F94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F51E9409-7F97-48F8-83C3-97A5EE6E38CA}"/>
              </a:ext>
            </a:extLst>
          </p:cNvPr>
          <p:cNvSpPr/>
          <p:nvPr/>
        </p:nvSpPr>
        <p:spPr>
          <a:xfrm>
            <a:off x="0" y="965200"/>
            <a:ext cx="12192000" cy="381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1DB6AB1E-AD54-44BF-AB06-E1699E2A329C}"/>
              </a:ext>
            </a:extLst>
          </p:cNvPr>
          <p:cNvSpPr/>
          <p:nvPr/>
        </p:nvSpPr>
        <p:spPr>
          <a:xfrm>
            <a:off x="457200" y="203200"/>
            <a:ext cx="508000" cy="508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1600" b="1">
                <a:solidFill>
                  <a:srgbClr val="FFFFFF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EE0567A-9CC4-486C-8BE6-4C2425B898EA}"/>
              </a:ext>
            </a:extLst>
          </p:cNvPr>
          <p:cNvSpPr txBox="1"/>
          <p:nvPr/>
        </p:nvSpPr>
        <p:spPr>
          <a:xfrm>
            <a:off x="1092200" y="203200"/>
            <a:ext cx="508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400" b="1">
                <a:solidFill>
                  <a:srgbClr val="FFFFFF"/>
                </a:solidFill>
                <a:latin typeface="Segoe UI"/>
                <a:cs typeface="Segoe UI"/>
              </a:rPr>
              <a:t>Los Datos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9A42B99-7808-431D-97BA-E32BC1E282AA}"/>
              </a:ext>
            </a:extLst>
          </p:cNvPr>
          <p:cNvSpPr txBox="1"/>
          <p:nvPr/>
        </p:nvSpPr>
        <p:spPr>
          <a:xfrm>
            <a:off x="1092200" y="6096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B0C4DE"/>
                </a:solidFill>
                <a:latin typeface="Segoe UI"/>
                <a:cs typeface="Segoe UI"/>
              </a:rPr>
              <a:t>De dónde vienen, cómo se organizan y qué decisiones tomamos</a:t>
            </a:r>
            <a:endParaRPr lang="es-CO" sz="1400">
              <a:solidFill>
                <a:srgbClr val="B0C4DE"/>
              </a:solidFill>
              <a:latin typeface="Segoe UI"/>
              <a:cs typeface="Segoe UI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25C03FC-53EE-4D62-96BE-88814EFAB42D}"/>
              </a:ext>
            </a:extLst>
          </p:cNvPr>
          <p:cNvSpPr txBox="1"/>
          <p:nvPr/>
        </p:nvSpPr>
        <p:spPr>
          <a:xfrm>
            <a:off x="457200" y="65532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Alexis Jaramillo | MIAA 2026-1 | U. Icesi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64D177E-8A7C-4412-9ED4-FB5D78DC687D}"/>
              </a:ext>
            </a:extLst>
          </p:cNvPr>
          <p:cNvSpPr txBox="1"/>
          <p:nvPr/>
        </p:nvSpPr>
        <p:spPr>
          <a:xfrm>
            <a:off x="11176000" y="65532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4/11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B25171D-F9DE-4469-91DC-99D24AE6F693}"/>
              </a:ext>
            </a:extLst>
          </p:cNvPr>
          <p:cNvSpPr txBox="1"/>
          <p:nvPr/>
        </p:nvSpPr>
        <p:spPr>
          <a:xfrm>
            <a:off x="457200" y="11176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600" b="1">
                <a:solidFill>
                  <a:srgbClr val="0F172A"/>
                </a:solidFill>
                <a:latin typeface="Segoe UI"/>
                <a:cs typeface="Segoe UI"/>
              </a:rPr>
              <a:t>Tres fuentes de datos alimentan al asistente virtual</a:t>
            </a:r>
            <a:endParaRPr lang="es-CO" sz="1600" b="1">
              <a:solidFill>
                <a:srgbClr val="0F172A"/>
              </a:solidFill>
              <a:latin typeface="Segoe UI"/>
              <a:cs typeface="Segoe UI"/>
            </a:endParaRP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491CE755-131A-403B-BB5D-49393DDBCC84}"/>
              </a:ext>
            </a:extLst>
          </p:cNvPr>
          <p:cNvSpPr/>
          <p:nvPr/>
        </p:nvSpPr>
        <p:spPr>
          <a:xfrm>
            <a:off x="457200" y="1524000"/>
            <a:ext cx="3556000" cy="22225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FAB47DA-C356-4BB9-8DCA-07282205F0F3}"/>
              </a:ext>
            </a:extLst>
          </p:cNvPr>
          <p:cNvSpPr/>
          <p:nvPr/>
        </p:nvSpPr>
        <p:spPr>
          <a:xfrm>
            <a:off x="457200" y="1524000"/>
            <a:ext cx="3556000" cy="63500"/>
          </a:xfrm>
          <a:prstGeom prst="rect">
            <a:avLst/>
          </a:prstGeom>
          <a:solidFill>
            <a:srgbClr val="22C55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C9A0E1EA-7202-4AA8-BE86-85761D849C9D}"/>
              </a:ext>
            </a:extLst>
          </p:cNvPr>
          <p:cNvSpPr txBox="1"/>
          <p:nvPr/>
        </p:nvSpPr>
        <p:spPr>
          <a:xfrm>
            <a:off x="635000" y="1676400"/>
            <a:ext cx="3200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 b="1">
                <a:solidFill>
                  <a:srgbClr val="0F172A"/>
                </a:solidFill>
                <a:latin typeface="Segoe UI"/>
                <a:cs typeface="Segoe UI"/>
              </a:rPr>
              <a:t>Base de datos del bufete</a:t>
            </a:r>
            <a:endParaRPr lang="es-CO" sz="1400" b="1">
              <a:solidFill>
                <a:srgbClr val="0F172A"/>
              </a:solidFill>
              <a:latin typeface="Segoe UI"/>
              <a:cs typeface="Segoe UI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86DA9A9-C614-4D19-8877-6248E6FB8DD3}"/>
              </a:ext>
            </a:extLst>
          </p:cNvPr>
          <p:cNvSpPr txBox="1"/>
          <p:nvPr/>
        </p:nvSpPr>
        <p:spPr>
          <a:xfrm>
            <a:off x="635000" y="1981200"/>
            <a:ext cx="3200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000" b="1">
                <a:solidFill>
                  <a:srgbClr val="22C55E"/>
                </a:solidFill>
                <a:latin typeface="Segoe UI"/>
                <a:cs typeface="Segoe UI"/>
              </a:rPr>
              <a:t>DISPONIBILIDAD ALTA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E11A7FE-1C63-465F-8C43-08F10BC90115}"/>
              </a:ext>
            </a:extLst>
          </p:cNvPr>
          <p:cNvSpPr txBox="1"/>
          <p:nvPr/>
        </p:nvSpPr>
        <p:spPr>
          <a:xfrm>
            <a:off x="635000" y="2260600"/>
            <a:ext cx="3200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400">
                <a:solidFill>
                  <a:srgbClr val="475569"/>
                </a:solidFill>
                <a:latin typeface="Segoe UI"/>
                <a:cs typeface="Segoe UI"/>
              </a:rPr>
              <a:t>Registro histórico de clientes, casos legales, tiempos de respuesta y resultados de conversión. 8 áreas organizadas de forma independiente.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DCB2399F-C01B-46CF-9971-1605A7CD566F}"/>
              </a:ext>
            </a:extLst>
          </p:cNvPr>
          <p:cNvSpPr/>
          <p:nvPr/>
        </p:nvSpPr>
        <p:spPr>
          <a:xfrm>
            <a:off x="4241800" y="1524000"/>
            <a:ext cx="3556000" cy="22225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B85D00A1-C280-4069-940D-1D4B646CCB9C}"/>
              </a:ext>
            </a:extLst>
          </p:cNvPr>
          <p:cNvSpPr/>
          <p:nvPr/>
        </p:nvSpPr>
        <p:spPr>
          <a:xfrm>
            <a:off x="4241800" y="1524000"/>
            <a:ext cx="3556000" cy="63500"/>
          </a:xfrm>
          <a:prstGeom prst="rect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CFB50F0C-DA20-455A-93ED-34752ECECB9F}"/>
              </a:ext>
            </a:extLst>
          </p:cNvPr>
          <p:cNvSpPr txBox="1"/>
          <p:nvPr/>
        </p:nvSpPr>
        <p:spPr>
          <a:xfrm>
            <a:off x="4419600" y="1676400"/>
            <a:ext cx="3200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Documentos legales internos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A1B33C6C-23FC-4B26-804F-5B983D0184DF}"/>
              </a:ext>
            </a:extLst>
          </p:cNvPr>
          <p:cNvSpPr txBox="1"/>
          <p:nvPr/>
        </p:nvSpPr>
        <p:spPr>
          <a:xfrm>
            <a:off x="4419600" y="1981200"/>
            <a:ext cx="3200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000" b="1">
                <a:solidFill>
                  <a:srgbClr val="F59E0B"/>
                </a:solidFill>
                <a:latin typeface="Segoe UI"/>
                <a:cs typeface="Segoe UI"/>
              </a:rPr>
              <a:t>DISPONIBILIDAD MEDIA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25AB72D-71B3-4303-8E58-4E0CD1433B7D}"/>
              </a:ext>
            </a:extLst>
          </p:cNvPr>
          <p:cNvSpPr txBox="1"/>
          <p:nvPr/>
        </p:nvSpPr>
        <p:spPr>
          <a:xfrm>
            <a:off x="4419600" y="2260600"/>
            <a:ext cx="3200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Contratos, memoriales y expedientes en PDF que requieren lectura automática y organización antes de ser útiles para la IA.</a:t>
            </a:r>
            <a:endParaRPr lang="es-CO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FBE49BB5-2171-471B-95C6-4904E9258BF3}"/>
              </a:ext>
            </a:extLst>
          </p:cNvPr>
          <p:cNvSpPr/>
          <p:nvPr/>
        </p:nvSpPr>
        <p:spPr>
          <a:xfrm>
            <a:off x="8026400" y="1524000"/>
            <a:ext cx="3556000" cy="22225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DCBD2014-D0AD-4FB9-8F27-9130514D8855}"/>
              </a:ext>
            </a:extLst>
          </p:cNvPr>
          <p:cNvSpPr/>
          <p:nvPr/>
        </p:nvSpPr>
        <p:spPr>
          <a:xfrm>
            <a:off x="8026400" y="1524000"/>
            <a:ext cx="3556000" cy="635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F7D86131-420E-459C-A230-8617C573136D}"/>
              </a:ext>
            </a:extLst>
          </p:cNvPr>
          <p:cNvSpPr txBox="1"/>
          <p:nvPr/>
        </p:nvSpPr>
        <p:spPr>
          <a:xfrm>
            <a:off x="8204200" y="1676400"/>
            <a:ext cx="3200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Legislación colombiana pública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A5D16C4C-9CD6-440F-978D-AF71B5FE7FFD}"/>
              </a:ext>
            </a:extLst>
          </p:cNvPr>
          <p:cNvSpPr txBox="1"/>
          <p:nvPr/>
        </p:nvSpPr>
        <p:spPr>
          <a:xfrm>
            <a:off x="8204200" y="1981200"/>
            <a:ext cx="3200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000" b="1">
                <a:solidFill>
                  <a:srgbClr val="3B82F6"/>
                </a:solidFill>
                <a:latin typeface="Segoe UI"/>
                <a:cs typeface="Segoe UI"/>
              </a:rPr>
              <a:t>DISPONIBILIDAD PÚBLICA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F5EB8220-8FF7-400E-9E89-776BF50029F5}"/>
              </a:ext>
            </a:extLst>
          </p:cNvPr>
          <p:cNvSpPr txBox="1"/>
          <p:nvPr/>
        </p:nvSpPr>
        <p:spPr>
          <a:xfrm>
            <a:off x="8204200" y="2260600"/>
            <a:ext cx="3200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Constitución Política, Código General del Proceso, Código Penal, y sentencias de las altas Cortes. Base de conocimiento jurídico.</a:t>
            </a:r>
            <a:endParaRPr lang="es-CO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EC0F02D0-C66E-44FD-8F91-C2392D37C23E}"/>
              </a:ext>
            </a:extLst>
          </p:cNvPr>
          <p:cNvSpPr txBox="1"/>
          <p:nvPr/>
        </p:nvSpPr>
        <p:spPr>
          <a:xfrm>
            <a:off x="457200" y="39370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600" b="1">
                <a:solidFill>
                  <a:srgbClr val="0F172A"/>
                </a:solidFill>
                <a:latin typeface="Segoe UI"/>
                <a:cs typeface="Segoe UI"/>
              </a:rPr>
              <a:t>Arquitectura de datos: Del dato crudo al insight accionable</a:t>
            </a:r>
            <a:endParaRPr lang="es-CO" sz="1600" b="1">
              <a:solidFill>
                <a:srgbClr val="0F172A"/>
              </a:solidFill>
              <a:latin typeface="Segoe UI"/>
              <a:cs typeface="Segoe UI"/>
            </a:endParaRP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21C5CC30-E4D0-42E7-B583-FE8EBE3CFC03}"/>
              </a:ext>
            </a:extLst>
          </p:cNvPr>
          <p:cNvSpPr/>
          <p:nvPr/>
        </p:nvSpPr>
        <p:spPr>
          <a:xfrm>
            <a:off x="635000" y="4381500"/>
            <a:ext cx="3238500" cy="18415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7CE1B603-BCAE-4CAB-A56D-B83759CEE76C}"/>
              </a:ext>
            </a:extLst>
          </p:cNvPr>
          <p:cNvSpPr/>
          <p:nvPr/>
        </p:nvSpPr>
        <p:spPr>
          <a:xfrm>
            <a:off x="635000" y="4381500"/>
            <a:ext cx="63500" cy="1841500"/>
          </a:xfrm>
          <a:prstGeom prst="rect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1CD47E97-68B0-4C49-8FD7-305EC7A777F7}"/>
              </a:ext>
            </a:extLst>
          </p:cNvPr>
          <p:cNvSpPr txBox="1"/>
          <p:nvPr/>
        </p:nvSpPr>
        <p:spPr>
          <a:xfrm>
            <a:off x="838200" y="4470400"/>
            <a:ext cx="29337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1E407A"/>
                </a:solidFill>
                <a:latin typeface="Segoe UI"/>
                <a:cs typeface="Segoe UI"/>
              </a:rPr>
              <a:t>CAPTURA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9D50735E-001E-46AF-9825-3B02EEA30F6D}"/>
              </a:ext>
            </a:extLst>
          </p:cNvPr>
          <p:cNvSpPr txBox="1"/>
          <p:nvPr/>
        </p:nvSpPr>
        <p:spPr>
          <a:xfrm>
            <a:off x="838200" y="4826000"/>
            <a:ext cx="29337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Los datos llegan en bruto desde formularios, integraciones y documentos sin procesar</a:t>
            </a:r>
            <a:endParaRPr lang="es-CO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2317B54F-F394-42DF-BBD5-67AD6E4449FF}"/>
              </a:ext>
            </a:extLst>
          </p:cNvPr>
          <p:cNvSpPr txBox="1"/>
          <p:nvPr/>
        </p:nvSpPr>
        <p:spPr>
          <a:xfrm>
            <a:off x="3937000" y="5080000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400" b="1">
                <a:solidFill>
                  <a:srgbClr val="94A3B8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E8A24D37-03E6-412B-B885-F9F95704ECFF}"/>
              </a:ext>
            </a:extLst>
          </p:cNvPr>
          <p:cNvSpPr/>
          <p:nvPr/>
        </p:nvSpPr>
        <p:spPr>
          <a:xfrm>
            <a:off x="4483100" y="4381500"/>
            <a:ext cx="3238500" cy="18415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1614417D-2B0A-4EB9-ACA7-9AE7BBDBBCCE}"/>
              </a:ext>
            </a:extLst>
          </p:cNvPr>
          <p:cNvSpPr/>
          <p:nvPr/>
        </p:nvSpPr>
        <p:spPr>
          <a:xfrm>
            <a:off x="4483100" y="4381500"/>
            <a:ext cx="63500" cy="18415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C699B2D5-20E2-4F94-AFA3-A6DD6A9991B2}"/>
              </a:ext>
            </a:extLst>
          </p:cNvPr>
          <p:cNvSpPr txBox="1"/>
          <p:nvPr/>
        </p:nvSpPr>
        <p:spPr>
          <a:xfrm>
            <a:off x="4686300" y="4470400"/>
            <a:ext cx="29337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F5A623"/>
                </a:solidFill>
                <a:latin typeface="Segoe UI"/>
                <a:cs typeface="Segoe UI"/>
              </a:rPr>
              <a:t>LIMPIEZA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3035C007-AE76-4039-941F-33A92F452694}"/>
              </a:ext>
            </a:extLst>
          </p:cNvPr>
          <p:cNvSpPr txBox="1"/>
          <p:nvPr/>
        </p:nvSpPr>
        <p:spPr>
          <a:xfrm>
            <a:off x="4686300" y="4826000"/>
            <a:ext cx="29337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Se validan, eliminan duplicados, normalizan formatos y organizan en la base de datos</a:t>
            </a:r>
            <a:endParaRPr lang="es-CO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783AEDA1-E7E7-406C-9ECA-890B11341F34}"/>
              </a:ext>
            </a:extLst>
          </p:cNvPr>
          <p:cNvSpPr txBox="1"/>
          <p:nvPr/>
        </p:nvSpPr>
        <p:spPr>
          <a:xfrm>
            <a:off x="7785100" y="5080000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400" b="1">
                <a:solidFill>
                  <a:srgbClr val="94A3B8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75" name="Rectángulo: esquinas redondeadas 74">
            <a:extLst>
              <a:ext uri="{FF2B5EF4-FFF2-40B4-BE49-F238E27FC236}">
                <a16:creationId xmlns:a16="http://schemas.microsoft.com/office/drawing/2014/main" id="{A0BEC3B4-8CD7-45A1-8ECB-C680575AA85D}"/>
              </a:ext>
            </a:extLst>
          </p:cNvPr>
          <p:cNvSpPr/>
          <p:nvPr/>
        </p:nvSpPr>
        <p:spPr>
          <a:xfrm>
            <a:off x="8331200" y="4381500"/>
            <a:ext cx="3238500" cy="18415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696A0507-9F26-47FE-872A-ECACEE075BE8}"/>
              </a:ext>
            </a:extLst>
          </p:cNvPr>
          <p:cNvSpPr/>
          <p:nvPr/>
        </p:nvSpPr>
        <p:spPr>
          <a:xfrm>
            <a:off x="8331200" y="4381500"/>
            <a:ext cx="63500" cy="1841500"/>
          </a:xfrm>
          <a:prstGeom prst="rect">
            <a:avLst/>
          </a:prstGeom>
          <a:solidFill>
            <a:srgbClr val="22C55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9743D275-C52C-49CC-AA0F-5796BE80CD33}"/>
              </a:ext>
            </a:extLst>
          </p:cNvPr>
          <p:cNvSpPr txBox="1"/>
          <p:nvPr/>
        </p:nvSpPr>
        <p:spPr>
          <a:xfrm>
            <a:off x="8534400" y="4470400"/>
            <a:ext cx="29337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22C55E"/>
                </a:solidFill>
                <a:latin typeface="Segoe UI"/>
                <a:cs typeface="Segoe UI"/>
              </a:rPr>
              <a:t>INTELIGENCIA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F7283F9F-9C87-44CD-B6F0-DCCB4E190E35}"/>
              </a:ext>
            </a:extLst>
          </p:cNvPr>
          <p:cNvSpPr txBox="1"/>
          <p:nvPr/>
        </p:nvSpPr>
        <p:spPr>
          <a:xfrm>
            <a:off x="8534400" y="4826000"/>
            <a:ext cx="29337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Los datos limpios alimentan al modelo de IA que califica, clasifica y genera respuestas</a:t>
            </a:r>
            <a:endParaRPr lang="es-CO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156B1228-8A14-4CDC-8ECF-D5E03B02C5A2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B42593A-64D7-4F15-A06E-D90C82E10BBA}"/>
              </a:ext>
            </a:extLst>
          </p:cNvPr>
          <p:cNvSpPr/>
          <p:nvPr/>
        </p:nvSpPr>
        <p:spPr>
          <a:xfrm>
            <a:off x="0" y="965200"/>
            <a:ext cx="12192000" cy="381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70E59DBB-B53E-4871-B5B4-847289D0FE0A}"/>
              </a:ext>
            </a:extLst>
          </p:cNvPr>
          <p:cNvSpPr/>
          <p:nvPr/>
        </p:nvSpPr>
        <p:spPr>
          <a:xfrm>
            <a:off x="457200" y="203200"/>
            <a:ext cx="508000" cy="508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1600" b="1">
                <a:solidFill>
                  <a:srgbClr val="FFFFFF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E96A861-519B-43D5-9DD6-1D2E78939BE9}"/>
              </a:ext>
            </a:extLst>
          </p:cNvPr>
          <p:cNvSpPr txBox="1"/>
          <p:nvPr/>
        </p:nvSpPr>
        <p:spPr>
          <a:xfrm>
            <a:off x="1092200" y="203200"/>
            <a:ext cx="635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2400" b="1">
                <a:solidFill>
                  <a:srgbClr val="FFFFFF"/>
                </a:solidFill>
                <a:latin typeface="Segoe UI"/>
                <a:cs typeface="Segoe UI"/>
              </a:rPr>
              <a:t>Datos - Qué nos dicen los números</a:t>
            </a:r>
            <a:endParaRPr lang="es-CO" sz="24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A031AF4-9541-4D91-AC76-72939B01B2A4}"/>
              </a:ext>
            </a:extLst>
          </p:cNvPr>
          <p:cNvSpPr txBox="1"/>
          <p:nvPr/>
        </p:nvSpPr>
        <p:spPr>
          <a:xfrm>
            <a:off x="1092200" y="6096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>
                <a:solidFill>
                  <a:srgbClr val="B0C4DE"/>
                </a:solidFill>
                <a:latin typeface="Segoe UI"/>
                <a:cs typeface="Segoe UI"/>
              </a:rPr>
              <a:t>Análisis exploratorio sobre 500 interacciones históricas de leads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CC3B3C8-64ED-4931-B364-0D25BDD99ACB}"/>
              </a:ext>
            </a:extLst>
          </p:cNvPr>
          <p:cNvSpPr txBox="1"/>
          <p:nvPr/>
        </p:nvSpPr>
        <p:spPr>
          <a:xfrm>
            <a:off x="457200" y="65532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Alexis Jaramillo | MIAA 2026-1 | U. Icesi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27B81C7-4357-4FE1-A93E-D004A6277E7D}"/>
              </a:ext>
            </a:extLst>
          </p:cNvPr>
          <p:cNvSpPr txBox="1"/>
          <p:nvPr/>
        </p:nvSpPr>
        <p:spPr>
          <a:xfrm>
            <a:off x="11176000" y="65532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5/11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2A50326D-54B1-4EA0-8E3F-F011CA9760D3}"/>
              </a:ext>
            </a:extLst>
          </p:cNvPr>
          <p:cNvSpPr/>
          <p:nvPr/>
        </p:nvSpPr>
        <p:spPr>
          <a:xfrm>
            <a:off x="508000" y="1117600"/>
            <a:ext cx="5486400" cy="24765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B29E3A42-FF91-4847-B048-80C4F1773480}"/>
              </a:ext>
            </a:extLst>
          </p:cNvPr>
          <p:cNvSpPr/>
          <p:nvPr/>
        </p:nvSpPr>
        <p:spPr>
          <a:xfrm>
            <a:off x="508000" y="1117600"/>
            <a:ext cx="5486400" cy="50800"/>
          </a:xfrm>
          <a:prstGeom prst="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2C8DFF34-C116-44F5-ACD4-7A0367BB2C12}"/>
              </a:ext>
            </a:extLst>
          </p:cNvPr>
          <p:cNvSpPr txBox="1"/>
          <p:nvPr/>
        </p:nvSpPr>
        <p:spPr>
          <a:xfrm>
            <a:off x="711200" y="1295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500" b="1">
                <a:solidFill>
                  <a:srgbClr val="EF4444"/>
                </a:solidFill>
                <a:latin typeface="Segoe UI"/>
                <a:cs typeface="Segoe UI"/>
              </a:rPr>
              <a:t>Hallazgo 1: La urgencia es real</a:t>
            </a:r>
            <a:endParaRPr lang="es-CO" sz="1500" b="1">
              <a:solidFill>
                <a:srgbClr val="EF4444"/>
              </a:solidFill>
              <a:latin typeface="Segoe UI"/>
              <a:cs typeface="Segoe UI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74CC102E-B7B4-4B12-8CD0-7935AAA40A67}"/>
              </a:ext>
            </a:extLst>
          </p:cNvPr>
          <p:cNvSpPr txBox="1"/>
          <p:nvPr/>
        </p:nvSpPr>
        <p:spPr>
          <a:xfrm>
            <a:off x="711200" y="1651000"/>
            <a:ext cx="5080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334155"/>
                </a:solidFill>
                <a:latin typeface="Segoe UI"/>
                <a:cs typeface="Segoe UI"/>
              </a:rPr>
              <a:t>El tiempo promedio de respuesta es de 4.3 horas, pero hay casos que esperan más de 20 horas. Esta cola larga confirma la necesidad de un sistema 24/7.</a:t>
            </a:r>
            <a:endParaRPr lang="es-CO" sz="1400">
              <a:solidFill>
                <a:srgbClr val="334155"/>
              </a:solidFill>
              <a:latin typeface="Segoe UI"/>
              <a:cs typeface="Segoe UI"/>
            </a:endParaRP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1DDBFD0F-408C-4BE8-9125-7E0637C4513F}"/>
              </a:ext>
            </a:extLst>
          </p:cNvPr>
          <p:cNvSpPr/>
          <p:nvPr/>
        </p:nvSpPr>
        <p:spPr>
          <a:xfrm>
            <a:off x="660400" y="3048000"/>
            <a:ext cx="5181600" cy="406400"/>
          </a:xfrm>
          <a:prstGeom prst="round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E6B8B912-0FC0-470F-96D6-00BCA53A83A3}"/>
              </a:ext>
            </a:extLst>
          </p:cNvPr>
          <p:cNvSpPr txBox="1"/>
          <p:nvPr/>
        </p:nvSpPr>
        <p:spPr>
          <a:xfrm>
            <a:off x="787400" y="3098800"/>
            <a:ext cx="492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475569"/>
                </a:solidFill>
                <a:latin typeface="Segoe UI"/>
                <a:cs typeface="Segoe UI"/>
              </a:rPr>
              <a:t>📊  Histograma de tiempos: asimetría positiva con cola larga</a:t>
            </a:r>
            <a:endParaRPr lang="es-CO" sz="11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9B687916-7580-441C-9BCD-20449359D5FE}"/>
              </a:ext>
            </a:extLst>
          </p:cNvPr>
          <p:cNvSpPr/>
          <p:nvPr/>
        </p:nvSpPr>
        <p:spPr>
          <a:xfrm>
            <a:off x="6248400" y="1117600"/>
            <a:ext cx="5486400" cy="24765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087A0951-21F0-4630-B097-E8839652319F}"/>
              </a:ext>
            </a:extLst>
          </p:cNvPr>
          <p:cNvSpPr/>
          <p:nvPr/>
        </p:nvSpPr>
        <p:spPr>
          <a:xfrm>
            <a:off x="6248400" y="1117600"/>
            <a:ext cx="5486400" cy="50800"/>
          </a:xfrm>
          <a:prstGeom prst="rect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DB3AFA57-0659-4331-B7C2-B2D174B1B6B5}"/>
              </a:ext>
            </a:extLst>
          </p:cNvPr>
          <p:cNvSpPr txBox="1"/>
          <p:nvPr/>
        </p:nvSpPr>
        <p:spPr>
          <a:xfrm>
            <a:off x="6451600" y="1295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500" b="1">
                <a:solidFill>
                  <a:srgbClr val="F59E0B"/>
                </a:solidFill>
                <a:latin typeface="Segoe UI"/>
                <a:cs typeface="Segoe UI"/>
              </a:rPr>
              <a:t>Hallazgo 2: La mayoría de leads son tibios</a:t>
            </a:r>
            <a:endParaRPr lang="es-CO" sz="1500" b="1">
              <a:solidFill>
                <a:srgbClr val="F59E0B"/>
              </a:solidFill>
              <a:latin typeface="Segoe UI"/>
              <a:cs typeface="Segoe UI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C6EA2F8A-D33D-4C3C-B6D0-DC8B1ED008AA}"/>
              </a:ext>
            </a:extLst>
          </p:cNvPr>
          <p:cNvSpPr txBox="1"/>
          <p:nvPr/>
        </p:nvSpPr>
        <p:spPr>
          <a:xfrm>
            <a:off x="6451600" y="1651000"/>
            <a:ext cx="5080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334155"/>
                </a:solidFill>
                <a:latin typeface="Segoe UI"/>
                <a:cs typeface="Segoe UI"/>
              </a:rPr>
              <a:t>El puntaje promedio de calidad es 55/100. La mayoría cae en zona tibia (40-69 pts), oportunidad enorme para seguimiento automático.</a:t>
            </a:r>
            <a:endParaRPr lang="es-CO" sz="1400">
              <a:solidFill>
                <a:srgbClr val="334155"/>
              </a:solidFill>
              <a:latin typeface="Segoe UI"/>
              <a:cs typeface="Segoe UI"/>
            </a:endParaRP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45D649FD-F0A7-440C-ABEF-ECD9B2B60BAA}"/>
              </a:ext>
            </a:extLst>
          </p:cNvPr>
          <p:cNvSpPr/>
          <p:nvPr/>
        </p:nvSpPr>
        <p:spPr>
          <a:xfrm>
            <a:off x="6400800" y="3048000"/>
            <a:ext cx="5181600" cy="406400"/>
          </a:xfrm>
          <a:prstGeom prst="round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B038790A-F012-4AD0-BEBB-5AD9FCE1084F}"/>
              </a:ext>
            </a:extLst>
          </p:cNvPr>
          <p:cNvSpPr txBox="1"/>
          <p:nvPr/>
        </p:nvSpPr>
        <p:spPr>
          <a:xfrm>
            <a:off x="6527800" y="3098800"/>
            <a:ext cx="492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475569"/>
                </a:solidFill>
                <a:latin typeface="Segoe UI"/>
                <a:cs typeface="Segoe UI"/>
              </a:rPr>
              <a:t>📊  Boxplot de scores: distribución normal, mediana en 55</a:t>
            </a:r>
            <a:endParaRPr lang="es-CO" sz="11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D1676E93-5B1C-4078-8F5C-19D13B57A396}"/>
              </a:ext>
            </a:extLst>
          </p:cNvPr>
          <p:cNvSpPr/>
          <p:nvPr/>
        </p:nvSpPr>
        <p:spPr>
          <a:xfrm>
            <a:off x="508000" y="3797300"/>
            <a:ext cx="5486400" cy="24765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2EDC5BB8-E0EE-4928-BB0B-433DF5EB9E84}"/>
              </a:ext>
            </a:extLst>
          </p:cNvPr>
          <p:cNvSpPr/>
          <p:nvPr/>
        </p:nvSpPr>
        <p:spPr>
          <a:xfrm>
            <a:off x="508000" y="3797300"/>
            <a:ext cx="5486400" cy="508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C65D6793-8FCB-4D12-BACB-C38E04038E8A}"/>
              </a:ext>
            </a:extLst>
          </p:cNvPr>
          <p:cNvSpPr txBox="1"/>
          <p:nvPr/>
        </p:nvSpPr>
        <p:spPr>
          <a:xfrm>
            <a:off x="711200" y="39751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500" b="1">
                <a:solidFill>
                  <a:srgbClr val="3B82F6"/>
                </a:solidFill>
                <a:latin typeface="Segoe UI"/>
                <a:cs typeface="Segoe UI"/>
              </a:rPr>
              <a:t>Hallazgo 3: Civil y Laboral dominan</a:t>
            </a:r>
            <a:endParaRPr lang="es-CO" sz="1500" b="1">
              <a:solidFill>
                <a:srgbClr val="3B82F6"/>
              </a:solidFill>
              <a:latin typeface="Segoe UI"/>
              <a:cs typeface="Segoe UI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79F25B5-D379-448D-9DEB-41D89382BF3C}"/>
              </a:ext>
            </a:extLst>
          </p:cNvPr>
          <p:cNvSpPr txBox="1"/>
          <p:nvPr/>
        </p:nvSpPr>
        <p:spPr>
          <a:xfrm>
            <a:off x="711200" y="4330700"/>
            <a:ext cx="5080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334155"/>
                </a:solidFill>
                <a:latin typeface="Segoe UI"/>
                <a:cs typeface="Segoe UI"/>
              </a:rPr>
              <a:t>El 60% de las consultas son Derecho Civil (40%) y Laboral (20%). El primer entrenamiento de IA debe enfocarse en estas dos ramas.</a:t>
            </a:r>
            <a:endParaRPr lang="es-CO" sz="1400">
              <a:solidFill>
                <a:srgbClr val="334155"/>
              </a:solidFill>
              <a:latin typeface="Segoe UI"/>
              <a:cs typeface="Segoe UI"/>
            </a:endParaRPr>
          </a:p>
        </p:txBody>
      </p:sp>
      <p:sp>
        <p:nvSpPr>
          <p:cNvPr id="77" name="Rectángulo: esquinas redondeadas 76">
            <a:extLst>
              <a:ext uri="{FF2B5EF4-FFF2-40B4-BE49-F238E27FC236}">
                <a16:creationId xmlns:a16="http://schemas.microsoft.com/office/drawing/2014/main" id="{715E6133-1821-4165-9CED-4DC6C3AA0C4D}"/>
              </a:ext>
            </a:extLst>
          </p:cNvPr>
          <p:cNvSpPr/>
          <p:nvPr/>
        </p:nvSpPr>
        <p:spPr>
          <a:xfrm>
            <a:off x="660400" y="5727700"/>
            <a:ext cx="5181600" cy="406400"/>
          </a:xfrm>
          <a:prstGeom prst="round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FA25E76B-E923-4861-8667-B01BEA98DDCD}"/>
              </a:ext>
            </a:extLst>
          </p:cNvPr>
          <p:cNvSpPr txBox="1"/>
          <p:nvPr/>
        </p:nvSpPr>
        <p:spPr>
          <a:xfrm>
            <a:off x="787400" y="5778500"/>
            <a:ext cx="492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475569"/>
                </a:solidFill>
                <a:latin typeface="Segoe UI"/>
                <a:cs typeface="Segoe UI"/>
              </a:rPr>
              <a:t>📊  Gráfico de barras: Civil 40%, Laboral 20%, otros 40%</a:t>
            </a:r>
            <a:endParaRPr lang="es-CO" sz="11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53685EBF-72A1-4EF8-A5D5-C0772FA4D434}"/>
              </a:ext>
            </a:extLst>
          </p:cNvPr>
          <p:cNvSpPr/>
          <p:nvPr/>
        </p:nvSpPr>
        <p:spPr>
          <a:xfrm>
            <a:off x="6248400" y="3797300"/>
            <a:ext cx="5486400" cy="24765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C34C03FD-E3FD-40BD-9A5C-0F9506407186}"/>
              </a:ext>
            </a:extLst>
          </p:cNvPr>
          <p:cNvSpPr/>
          <p:nvPr/>
        </p:nvSpPr>
        <p:spPr>
          <a:xfrm>
            <a:off x="6248400" y="3797300"/>
            <a:ext cx="5486400" cy="50800"/>
          </a:xfrm>
          <a:prstGeom prst="rect">
            <a:avLst/>
          </a:prstGeom>
          <a:solidFill>
            <a:srgbClr val="8B5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BAAC4632-F249-40DF-A9C5-0191158CB210}"/>
              </a:ext>
            </a:extLst>
          </p:cNvPr>
          <p:cNvSpPr txBox="1"/>
          <p:nvPr/>
        </p:nvSpPr>
        <p:spPr>
          <a:xfrm>
            <a:off x="6451600" y="39751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500" b="1">
                <a:solidFill>
                  <a:srgbClr val="8B5CF6"/>
                </a:solidFill>
                <a:latin typeface="Segoe UI"/>
                <a:cs typeface="Segoe UI"/>
              </a:rPr>
              <a:t>Hallazgo 4: Los mensajes son cortos</a:t>
            </a:r>
            <a:endParaRPr lang="es-CO" sz="1500" b="1">
              <a:solidFill>
                <a:srgbClr val="8B5CF6"/>
              </a:solidFill>
              <a:latin typeface="Segoe UI"/>
              <a:cs typeface="Segoe UI"/>
            </a:endParaRP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DAB932DF-BF07-466C-8483-9C36014D756A}"/>
              </a:ext>
            </a:extLst>
          </p:cNvPr>
          <p:cNvSpPr txBox="1"/>
          <p:nvPr/>
        </p:nvSpPr>
        <p:spPr>
          <a:xfrm>
            <a:off x="6451600" y="4330700"/>
            <a:ext cx="5080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334155"/>
                </a:solidFill>
                <a:latin typeface="Segoe UI"/>
                <a:cs typeface="Segoe UI"/>
              </a:rPr>
              <a:t>La mayoría de contactos iniciales tienen menos de 100 caracteres. La IA necesitará preguntas aclaratorias antes de responder.</a:t>
            </a:r>
            <a:endParaRPr lang="es-CO" sz="1400">
              <a:solidFill>
                <a:srgbClr val="334155"/>
              </a:solidFill>
              <a:latin typeface="Segoe UI"/>
              <a:cs typeface="Segoe UI"/>
            </a:endParaRPr>
          </a:p>
        </p:txBody>
      </p:sp>
      <p:sp>
        <p:nvSpPr>
          <p:cNvPr id="83" name="Rectángulo: esquinas redondeadas 82">
            <a:extLst>
              <a:ext uri="{FF2B5EF4-FFF2-40B4-BE49-F238E27FC236}">
                <a16:creationId xmlns:a16="http://schemas.microsoft.com/office/drawing/2014/main" id="{3B20FFBC-A094-4B7B-BC0E-7591B1875341}"/>
              </a:ext>
            </a:extLst>
          </p:cNvPr>
          <p:cNvSpPr/>
          <p:nvPr/>
        </p:nvSpPr>
        <p:spPr>
          <a:xfrm>
            <a:off x="6400800" y="5727700"/>
            <a:ext cx="5181600" cy="406400"/>
          </a:xfrm>
          <a:prstGeom prst="round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87878F0D-C8E0-4C31-98DE-0B0096E51026}"/>
              </a:ext>
            </a:extLst>
          </p:cNvPr>
          <p:cNvSpPr txBox="1"/>
          <p:nvPr/>
        </p:nvSpPr>
        <p:spPr>
          <a:xfrm>
            <a:off x="6527800" y="5778500"/>
            <a:ext cx="492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475569"/>
                </a:solidFill>
                <a:latin typeface="Segoe UI"/>
                <a:cs typeface="Segoe UI"/>
              </a:rPr>
              <a:t>📊  Histograma de longitud: concentración &lt; 100 caracteres</a:t>
            </a:r>
            <a:endParaRPr lang="es-CO" sz="1100">
              <a:solidFill>
                <a:srgbClr val="475569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54318F9D-191D-4828-8951-91DFA88EF24B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A0D1544-9C1A-4E58-BEA1-01651F17AE45}"/>
              </a:ext>
            </a:extLst>
          </p:cNvPr>
          <p:cNvSpPr/>
          <p:nvPr/>
        </p:nvSpPr>
        <p:spPr>
          <a:xfrm>
            <a:off x="0" y="965200"/>
            <a:ext cx="12192000" cy="381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DF78AF33-DA0F-47D4-8BE9-B5C8FFC24690}"/>
              </a:ext>
            </a:extLst>
          </p:cNvPr>
          <p:cNvSpPr/>
          <p:nvPr/>
        </p:nvSpPr>
        <p:spPr>
          <a:xfrm>
            <a:off x="457200" y="203200"/>
            <a:ext cx="508000" cy="508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1600" b="1">
                <a:solidFill>
                  <a:srgbClr val="FFFFFF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03D4353-B291-410A-9963-DE89ADACC74C}"/>
              </a:ext>
            </a:extLst>
          </p:cNvPr>
          <p:cNvSpPr txBox="1"/>
          <p:nvPr/>
        </p:nvSpPr>
        <p:spPr>
          <a:xfrm>
            <a:off x="1092200" y="203200"/>
            <a:ext cx="635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400" b="1">
                <a:solidFill>
                  <a:srgbClr val="FFFFFF"/>
                </a:solidFill>
                <a:latin typeface="Segoe UI"/>
                <a:cs typeface="Segoe UI"/>
              </a:rPr>
              <a:t>Datos - Decisiones y Gobernanza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D8B3F60-2B9C-47C7-836F-8364AC9E91FF}"/>
              </a:ext>
            </a:extLst>
          </p:cNvPr>
          <p:cNvSpPr txBox="1"/>
          <p:nvPr/>
        </p:nvSpPr>
        <p:spPr>
          <a:xfrm>
            <a:off x="1092200" y="609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B0C4DE"/>
                </a:solidFill>
                <a:latin typeface="Segoe UI"/>
                <a:cs typeface="Segoe UI"/>
              </a:rPr>
              <a:t>Retos encontrados y cómo los resolvimos</a:t>
            </a:r>
            <a:endParaRPr lang="es-CO" sz="1400">
              <a:solidFill>
                <a:srgbClr val="B0C4DE"/>
              </a:solidFill>
              <a:latin typeface="Segoe UI"/>
              <a:cs typeface="Segoe UI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EE46E46-7F2D-4427-8F47-939B2FE8BB9D}"/>
              </a:ext>
            </a:extLst>
          </p:cNvPr>
          <p:cNvSpPr txBox="1"/>
          <p:nvPr/>
        </p:nvSpPr>
        <p:spPr>
          <a:xfrm>
            <a:off x="457200" y="65532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Alexis Jaramillo | MIAA 2026-1 | U. Icesi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E7B21C3-2744-47C1-A190-619FB488A7F7}"/>
              </a:ext>
            </a:extLst>
          </p:cNvPr>
          <p:cNvSpPr txBox="1"/>
          <p:nvPr/>
        </p:nvSpPr>
        <p:spPr>
          <a:xfrm>
            <a:off x="11176000" y="65532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6/11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78162BE-E3DE-48E6-A81F-38C8F1849F00}"/>
              </a:ext>
            </a:extLst>
          </p:cNvPr>
          <p:cNvSpPr txBox="1"/>
          <p:nvPr/>
        </p:nvSpPr>
        <p:spPr>
          <a:xfrm>
            <a:off x="457200" y="1117600"/>
            <a:ext cx="558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DC2626"/>
                </a:solidFill>
                <a:latin typeface="Segoe UI"/>
                <a:cs typeface="Segoe UI"/>
              </a:rPr>
              <a:t>Retos encontrados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73CA8C67-AEC5-4CFD-8B8A-37C3C61FAE29}"/>
              </a:ext>
            </a:extLst>
          </p:cNvPr>
          <p:cNvSpPr/>
          <p:nvPr/>
        </p:nvSpPr>
        <p:spPr>
          <a:xfrm>
            <a:off x="533400" y="1549400"/>
            <a:ext cx="127000" cy="127000"/>
          </a:xfrm>
          <a:prstGeom prst="ellipse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BDDFED8D-853D-448A-9B54-C7EB205841ED}"/>
              </a:ext>
            </a:extLst>
          </p:cNvPr>
          <p:cNvSpPr txBox="1"/>
          <p:nvPr/>
        </p:nvSpPr>
        <p:spPr>
          <a:xfrm>
            <a:off x="762000" y="14986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Desbalance de clases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2537CA5-540E-4874-9F9D-4038A4DC94F3}"/>
              </a:ext>
            </a:extLst>
          </p:cNvPr>
          <p:cNvSpPr txBox="1"/>
          <p:nvPr/>
        </p:nvSpPr>
        <p:spPr>
          <a:xfrm>
            <a:off x="762000" y="1752600"/>
            <a:ext cx="520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475569"/>
                </a:solidFill>
                <a:latin typeface="Segoe UI"/>
                <a:cs typeface="Segoe UI"/>
              </a:rPr>
              <a:t>Derecho Civil acapara el 40% de consultas, lo que podría sesgar al modelo</a:t>
            </a:r>
            <a:endParaRPr lang="es-CO" sz="12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254D9B09-9638-479C-B301-A738D1C65BAD}"/>
              </a:ext>
            </a:extLst>
          </p:cNvPr>
          <p:cNvSpPr/>
          <p:nvPr/>
        </p:nvSpPr>
        <p:spPr>
          <a:xfrm>
            <a:off x="533400" y="2260600"/>
            <a:ext cx="127000" cy="127000"/>
          </a:xfrm>
          <a:prstGeom prst="ellipse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AFF0D0FD-158E-477F-A0FD-7140197EA580}"/>
              </a:ext>
            </a:extLst>
          </p:cNvPr>
          <p:cNvSpPr txBox="1"/>
          <p:nvPr/>
        </p:nvSpPr>
        <p:spPr>
          <a:xfrm>
            <a:off x="762000" y="22098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Tiempos atípicos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7FE31D8-A123-4ACC-B9BE-113986C8684E}"/>
              </a:ext>
            </a:extLst>
          </p:cNvPr>
          <p:cNvSpPr txBox="1"/>
          <p:nvPr/>
        </p:nvSpPr>
        <p:spPr>
          <a:xfrm>
            <a:off x="762000" y="2463800"/>
            <a:ext cx="520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475569"/>
                </a:solidFill>
                <a:latin typeface="Segoe UI"/>
                <a:cs typeface="Segoe UI"/>
              </a:rPr>
              <a:t>Consultas nocturnas crean una cola larga que distorsiona promedios</a:t>
            </a:r>
            <a:endParaRPr lang="es-CO" sz="12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FA58FA7C-990C-4DF6-BD40-F7D76F9D07B7}"/>
              </a:ext>
            </a:extLst>
          </p:cNvPr>
          <p:cNvSpPr/>
          <p:nvPr/>
        </p:nvSpPr>
        <p:spPr>
          <a:xfrm>
            <a:off x="533400" y="2971800"/>
            <a:ext cx="127000" cy="127000"/>
          </a:xfrm>
          <a:prstGeom prst="ellipse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2D8749BA-85C6-4DCC-8282-96DBF8DD7349}"/>
              </a:ext>
            </a:extLst>
          </p:cNvPr>
          <p:cNvSpPr txBox="1"/>
          <p:nvPr/>
        </p:nvSpPr>
        <p:spPr>
          <a:xfrm>
            <a:off x="762000" y="29210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Mensajes muy cortos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01564907-79D7-47ED-9919-D0AB7E243FEA}"/>
              </a:ext>
            </a:extLst>
          </p:cNvPr>
          <p:cNvSpPr txBox="1"/>
          <p:nvPr/>
        </p:nvSpPr>
        <p:spPr>
          <a:xfrm>
            <a:off x="762000" y="3175000"/>
            <a:ext cx="520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475569"/>
                </a:solidFill>
                <a:latin typeface="Segoe UI"/>
                <a:cs typeface="Segoe UI"/>
              </a:rPr>
              <a:t>La mayoría de contactos iniciales son breves, insuficientes para clasificación</a:t>
            </a:r>
            <a:endParaRPr lang="es-CO" sz="12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5E614E67-96F3-4116-8D4A-612B5E678A9E}"/>
              </a:ext>
            </a:extLst>
          </p:cNvPr>
          <p:cNvSpPr/>
          <p:nvPr/>
        </p:nvSpPr>
        <p:spPr>
          <a:xfrm>
            <a:off x="533400" y="3683000"/>
            <a:ext cx="127000" cy="127000"/>
          </a:xfrm>
          <a:prstGeom prst="ellipse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CFC673D-144E-4079-89AC-499CB691F4B2}"/>
              </a:ext>
            </a:extLst>
          </p:cNvPr>
          <p:cNvSpPr txBox="1"/>
          <p:nvPr/>
        </p:nvSpPr>
        <p:spPr>
          <a:xfrm>
            <a:off x="762000" y="36322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Documentos sin procesar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883F547-F33F-4570-8B51-2FDBF0924AE6}"/>
              </a:ext>
            </a:extLst>
          </p:cNvPr>
          <p:cNvSpPr txBox="1"/>
          <p:nvPr/>
        </p:nvSpPr>
        <p:spPr>
          <a:xfrm>
            <a:off x="762000" y="3886200"/>
            <a:ext cx="520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475569"/>
                </a:solidFill>
                <a:latin typeface="Segoe UI"/>
                <a:cs typeface="Segoe UI"/>
              </a:rPr>
              <a:t>Miles de PDFs legales sin lectura automática ni organización</a:t>
            </a:r>
            <a:endParaRPr lang="es-CO" sz="12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A2D436F9-FED9-4867-BC7B-EA8F7440A34E}"/>
              </a:ext>
            </a:extLst>
          </p:cNvPr>
          <p:cNvSpPr/>
          <p:nvPr/>
        </p:nvSpPr>
        <p:spPr>
          <a:xfrm>
            <a:off x="533400" y="4394200"/>
            <a:ext cx="127000" cy="127000"/>
          </a:xfrm>
          <a:prstGeom prst="ellipse">
            <a:avLst/>
          </a:prstGeom>
          <a:solidFill>
            <a:srgbClr val="DC262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2A3F06D-0835-4E4B-B5BA-534E56B41723}"/>
              </a:ext>
            </a:extLst>
          </p:cNvPr>
          <p:cNvSpPr txBox="1"/>
          <p:nvPr/>
        </p:nvSpPr>
        <p:spPr>
          <a:xfrm>
            <a:off x="762000" y="43434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Sin histórico de IA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B9DFBBE6-CFA5-44A7-AD4E-4BBE4B61BD91}"/>
              </a:ext>
            </a:extLst>
          </p:cNvPr>
          <p:cNvSpPr txBox="1"/>
          <p:nvPr/>
        </p:nvSpPr>
        <p:spPr>
          <a:xfrm>
            <a:off x="762000" y="4597400"/>
            <a:ext cx="520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475569"/>
                </a:solidFill>
                <a:latin typeface="Segoe UI"/>
                <a:cs typeface="Segoe UI"/>
              </a:rPr>
              <a:t>El bufete nunca ha usado tecnología, no hay datos previos para comparar</a:t>
            </a:r>
            <a:endParaRPr lang="es-CO" sz="12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67FE3F7-497B-488B-8236-C7304FF82651}"/>
              </a:ext>
            </a:extLst>
          </p:cNvPr>
          <p:cNvSpPr txBox="1"/>
          <p:nvPr/>
        </p:nvSpPr>
        <p:spPr>
          <a:xfrm>
            <a:off x="6350000" y="1117600"/>
            <a:ext cx="558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16A34A"/>
                </a:solidFill>
                <a:latin typeface="Segoe UI"/>
                <a:cs typeface="Segoe UI"/>
              </a:rPr>
              <a:t>Decisiones tomadas</a:t>
            </a:r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E1BDDDFE-5A83-4B9F-B82D-F63169D0ABCD}"/>
              </a:ext>
            </a:extLst>
          </p:cNvPr>
          <p:cNvSpPr/>
          <p:nvPr/>
        </p:nvSpPr>
        <p:spPr>
          <a:xfrm>
            <a:off x="6426200" y="1549400"/>
            <a:ext cx="127000" cy="127000"/>
          </a:xfrm>
          <a:prstGeom prst="ellipse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0D3C8DC3-A3F7-464E-8AF4-08BA187EDFF8}"/>
              </a:ext>
            </a:extLst>
          </p:cNvPr>
          <p:cNvSpPr txBox="1"/>
          <p:nvPr/>
        </p:nvSpPr>
        <p:spPr>
          <a:xfrm>
            <a:off x="6654800" y="14986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Conservar datos atípicos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91D9EEDB-7F23-4838-AD90-B35AE6F378E2}"/>
              </a:ext>
            </a:extLst>
          </p:cNvPr>
          <p:cNvSpPr txBox="1"/>
          <p:nvPr/>
        </p:nvSpPr>
        <p:spPr>
          <a:xfrm>
            <a:off x="6654800" y="1752600"/>
            <a:ext cx="520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475569"/>
                </a:solidFill>
                <a:latin typeface="Segoe UI"/>
                <a:cs typeface="Segoe UI"/>
              </a:rPr>
              <a:t>Representan la atención fuera de horario: donde la IA más brilla</a:t>
            </a:r>
            <a:endParaRPr lang="es-CO" sz="12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FCDE81C8-AC22-471E-83FF-6E2807F8F526}"/>
              </a:ext>
            </a:extLst>
          </p:cNvPr>
          <p:cNvSpPr/>
          <p:nvPr/>
        </p:nvSpPr>
        <p:spPr>
          <a:xfrm>
            <a:off x="6426200" y="2260600"/>
            <a:ext cx="127000" cy="127000"/>
          </a:xfrm>
          <a:prstGeom prst="ellipse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BC84026-5DC5-4CC1-B339-FA768055EE77}"/>
              </a:ext>
            </a:extLst>
          </p:cNvPr>
          <p:cNvSpPr txBox="1"/>
          <p:nvPr/>
        </p:nvSpPr>
        <p:spPr>
          <a:xfrm>
            <a:off x="6654800" y="22098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Priorizar Civil + Laboral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E4DBCE9A-CE0E-4F93-AECF-3D4D94261B49}"/>
              </a:ext>
            </a:extLst>
          </p:cNvPr>
          <p:cNvSpPr txBox="1"/>
          <p:nvPr/>
        </p:nvSpPr>
        <p:spPr>
          <a:xfrm>
            <a:off x="6654800" y="2463800"/>
            <a:ext cx="520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475569"/>
                </a:solidFill>
                <a:latin typeface="Segoe UI"/>
                <a:cs typeface="Segoe UI"/>
              </a:rPr>
              <a:t>El 60% del volumen está ahí. Máximo impacto con MVP</a:t>
            </a:r>
            <a:endParaRPr lang="es-CO" sz="12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6AA16E85-A1A8-4076-A115-171D44204897}"/>
              </a:ext>
            </a:extLst>
          </p:cNvPr>
          <p:cNvSpPr/>
          <p:nvPr/>
        </p:nvSpPr>
        <p:spPr>
          <a:xfrm>
            <a:off x="6426200" y="2971800"/>
            <a:ext cx="127000" cy="127000"/>
          </a:xfrm>
          <a:prstGeom prst="ellipse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B347A3B4-2F3F-4CFB-8B73-77F24A87B18E}"/>
              </a:ext>
            </a:extLst>
          </p:cNvPr>
          <p:cNvSpPr txBox="1"/>
          <p:nvPr/>
        </p:nvSpPr>
        <p:spPr>
          <a:xfrm>
            <a:off x="6654800" y="29210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Comenzar con reglas + IA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583DEC51-F23B-4D13-ABB5-D82956C3014F}"/>
              </a:ext>
            </a:extLst>
          </p:cNvPr>
          <p:cNvSpPr txBox="1"/>
          <p:nvPr/>
        </p:nvSpPr>
        <p:spPr>
          <a:xfrm>
            <a:off x="6654800" y="3175000"/>
            <a:ext cx="520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200">
                <a:solidFill>
                  <a:srgbClr val="475569"/>
                </a:solidFill>
                <a:latin typeface="Segoe UI"/>
                <a:cs typeface="Segoe UI"/>
              </a:rPr>
              <a:t>Scoring inicial con criterios claros, evolucionando a ML real</a:t>
            </a: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97381039-A14F-4AF7-B61C-AACE2FDDA334}"/>
              </a:ext>
            </a:extLst>
          </p:cNvPr>
          <p:cNvSpPr/>
          <p:nvPr/>
        </p:nvSpPr>
        <p:spPr>
          <a:xfrm>
            <a:off x="6426200" y="3683000"/>
            <a:ext cx="127000" cy="127000"/>
          </a:xfrm>
          <a:prstGeom prst="ellipse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51D0E12F-36CC-48F0-85B4-66E4576AA7DE}"/>
              </a:ext>
            </a:extLst>
          </p:cNvPr>
          <p:cNvSpPr txBox="1"/>
          <p:nvPr/>
        </p:nvSpPr>
        <p:spPr>
          <a:xfrm>
            <a:off x="6654800" y="36322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Anonimizar antes de procesar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B56964C3-B873-4E7E-9D14-BB5DC55DA436}"/>
              </a:ext>
            </a:extLst>
          </p:cNvPr>
          <p:cNvSpPr txBox="1"/>
          <p:nvPr/>
        </p:nvSpPr>
        <p:spPr>
          <a:xfrm>
            <a:off x="6654800" y="3886200"/>
            <a:ext cx="520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475569"/>
                </a:solidFill>
                <a:latin typeface="Segoe UI"/>
                <a:cs typeface="Segoe UI"/>
              </a:rPr>
              <a:t>Cumplimiento Ley 1581/2012 (Habeas Data). Sin datos sin protección</a:t>
            </a:r>
            <a:endParaRPr lang="es-CO" sz="12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82556165-23EB-4B00-88B3-0EA06BD8090E}"/>
              </a:ext>
            </a:extLst>
          </p:cNvPr>
          <p:cNvSpPr/>
          <p:nvPr/>
        </p:nvSpPr>
        <p:spPr>
          <a:xfrm>
            <a:off x="6426200" y="4394200"/>
            <a:ext cx="127000" cy="127000"/>
          </a:xfrm>
          <a:prstGeom prst="ellipse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8822B00B-6DB3-4EBE-BCF2-9EA25A175178}"/>
              </a:ext>
            </a:extLst>
          </p:cNvPr>
          <p:cNvSpPr txBox="1"/>
          <p:nvPr/>
        </p:nvSpPr>
        <p:spPr>
          <a:xfrm>
            <a:off x="6654800" y="43434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Arquitectura por capas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69804B24-5292-4CAA-90D9-6A7151EF28B8}"/>
              </a:ext>
            </a:extLst>
          </p:cNvPr>
          <p:cNvSpPr txBox="1"/>
          <p:nvPr/>
        </p:nvSpPr>
        <p:spPr>
          <a:xfrm>
            <a:off x="6654800" y="4597400"/>
            <a:ext cx="520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200">
                <a:solidFill>
                  <a:srgbClr val="475569"/>
                </a:solidFill>
                <a:latin typeface="Segoe UI"/>
                <a:cs typeface="Segoe UI"/>
              </a:rPr>
              <a:t>Datos crudos, limpios e inteligentes separados para trazabilidad</a:t>
            </a:r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EC8483F1-D103-48F1-ADE8-7E2E122564D8}"/>
              </a:ext>
            </a:extLst>
          </p:cNvPr>
          <p:cNvSpPr/>
          <p:nvPr/>
        </p:nvSpPr>
        <p:spPr>
          <a:xfrm>
            <a:off x="457200" y="5181600"/>
            <a:ext cx="11303000" cy="584200"/>
          </a:xfrm>
          <a:prstGeom prst="round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04EC0DB3-AFBB-4EBF-BCC3-95686E6ADEEE}"/>
              </a:ext>
            </a:extLst>
          </p:cNvPr>
          <p:cNvSpPr/>
          <p:nvPr/>
        </p:nvSpPr>
        <p:spPr>
          <a:xfrm>
            <a:off x="457200" y="5181600"/>
            <a:ext cx="63500" cy="5842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5E823B79-E430-4E73-8EC6-CC8C7FCB7577}"/>
              </a:ext>
            </a:extLst>
          </p:cNvPr>
          <p:cNvSpPr txBox="1"/>
          <p:nvPr/>
        </p:nvSpPr>
        <p:spPr>
          <a:xfrm>
            <a:off x="685800" y="5232400"/>
            <a:ext cx="1092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F5A623"/>
                </a:solidFill>
                <a:latin typeface="Segoe UI"/>
                <a:cs typeface="Segoe UI"/>
              </a:rPr>
              <a:t>Ley 1581/2012 (Habeas Data)  |  Secreto profesional  |  Procesamiento local de datos sensibles  |  Consentimiento explícito</a:t>
            </a:r>
            <a:endParaRPr lang="es-CO" sz="1400">
              <a:solidFill>
                <a:srgbClr val="F5A623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2AE6A8DA-AF8E-493F-917F-B142D9047A9C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90C21CA1-23D1-4857-93E0-3F2E2F9F6ADA}"/>
              </a:ext>
            </a:extLst>
          </p:cNvPr>
          <p:cNvSpPr/>
          <p:nvPr/>
        </p:nvSpPr>
        <p:spPr>
          <a:xfrm>
            <a:off x="0" y="965200"/>
            <a:ext cx="12192000" cy="381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CE2590-1C13-4C88-A169-FDF33414567A}"/>
              </a:ext>
            </a:extLst>
          </p:cNvPr>
          <p:cNvSpPr/>
          <p:nvPr/>
        </p:nvSpPr>
        <p:spPr>
          <a:xfrm>
            <a:off x="457200" y="203200"/>
            <a:ext cx="508000" cy="508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1600" b="1">
                <a:solidFill>
                  <a:srgbClr val="FFFFFF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D75F3C2-A865-43B4-9D26-254B485EC365}"/>
              </a:ext>
            </a:extLst>
          </p:cNvPr>
          <p:cNvSpPr txBox="1"/>
          <p:nvPr/>
        </p:nvSpPr>
        <p:spPr>
          <a:xfrm>
            <a:off x="1092200" y="203200"/>
            <a:ext cx="635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2400" b="1">
                <a:solidFill>
                  <a:srgbClr val="FFFFFF"/>
                </a:solidFill>
                <a:latin typeface="Segoe UI"/>
                <a:cs typeface="Segoe UI"/>
              </a:rPr>
              <a:t>El Modelo de Inteligencia Artificial</a:t>
            </a:r>
            <a:endParaRPr lang="es-CO" sz="24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BC5AFD8-C30F-4DA5-B9B1-382DDF6096F9}"/>
              </a:ext>
            </a:extLst>
          </p:cNvPr>
          <p:cNvSpPr txBox="1"/>
          <p:nvPr/>
        </p:nvSpPr>
        <p:spPr>
          <a:xfrm>
            <a:off x="1092200" y="609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B0C4DE"/>
                </a:solidFill>
                <a:latin typeface="Segoe UI"/>
                <a:cs typeface="Segoe UI"/>
              </a:rPr>
              <a:t>Tres capacidades que trabajan juntas</a:t>
            </a:r>
            <a:endParaRPr lang="es-CO" sz="1400">
              <a:solidFill>
                <a:srgbClr val="B0C4DE"/>
              </a:solidFill>
              <a:latin typeface="Segoe UI"/>
              <a:cs typeface="Segoe UI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51CC920-4C31-43F1-910A-75FF119702BB}"/>
              </a:ext>
            </a:extLst>
          </p:cNvPr>
          <p:cNvSpPr txBox="1"/>
          <p:nvPr/>
        </p:nvSpPr>
        <p:spPr>
          <a:xfrm>
            <a:off x="457200" y="65532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Alexis Jaramillo | MIAA 2026-1 | U. Icesi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79EDA6C-0816-4E07-AEDB-83ED746CAD03}"/>
              </a:ext>
            </a:extLst>
          </p:cNvPr>
          <p:cNvSpPr txBox="1"/>
          <p:nvPr/>
        </p:nvSpPr>
        <p:spPr>
          <a:xfrm>
            <a:off x="11176000" y="65532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7/11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A405425D-F005-46EA-B2E5-CA5F74F69756}"/>
              </a:ext>
            </a:extLst>
          </p:cNvPr>
          <p:cNvSpPr txBox="1"/>
          <p:nvPr/>
        </p:nvSpPr>
        <p:spPr>
          <a:xfrm>
            <a:off x="508000" y="11176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600" b="1">
                <a:solidFill>
                  <a:srgbClr val="1E407A"/>
                </a:solidFill>
                <a:latin typeface="Segoe UI"/>
                <a:cs typeface="Segoe UI"/>
              </a:rPr>
              <a:t>No es un solo modelo: son tres capacidades complementarias</a:t>
            </a:r>
            <a:endParaRPr lang="es-CO" sz="1600" b="1">
              <a:solidFill>
                <a:srgbClr val="1E407A"/>
              </a:solidFill>
              <a:latin typeface="Segoe UI"/>
              <a:cs typeface="Segoe UI"/>
            </a:endParaRPr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5817DEDA-9735-44E1-BAF9-01CF9350A925}"/>
              </a:ext>
            </a:extLst>
          </p:cNvPr>
          <p:cNvSpPr/>
          <p:nvPr/>
        </p:nvSpPr>
        <p:spPr>
          <a:xfrm>
            <a:off x="508000" y="1549400"/>
            <a:ext cx="3632200" cy="32004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8A2BCA82-8728-4B34-918F-29CF57EB17FE}"/>
              </a:ext>
            </a:extLst>
          </p:cNvPr>
          <p:cNvSpPr/>
          <p:nvPr/>
        </p:nvSpPr>
        <p:spPr>
          <a:xfrm>
            <a:off x="508000" y="1549400"/>
            <a:ext cx="3632200" cy="4826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905D990D-181D-4803-A791-742822920C89}"/>
              </a:ext>
            </a:extLst>
          </p:cNvPr>
          <p:cNvSpPr txBox="1"/>
          <p:nvPr/>
        </p:nvSpPr>
        <p:spPr>
          <a:xfrm>
            <a:off x="685800" y="1587500"/>
            <a:ext cx="3276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FFFFFF"/>
                </a:solidFill>
                <a:latin typeface="Segoe UI"/>
                <a:cs typeface="Segoe UI"/>
              </a:rPr>
              <a:t>Calificación de Leads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A1ACC3F6-0400-4729-BAEB-24F47B5E5DF0}"/>
              </a:ext>
            </a:extLst>
          </p:cNvPr>
          <p:cNvSpPr txBox="1"/>
          <p:nvPr/>
        </p:nvSpPr>
        <p:spPr>
          <a:xfrm>
            <a:off x="685800" y="1816100"/>
            <a:ext cx="3276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000" b="1">
                <a:solidFill>
                  <a:srgbClr val="FFFFFF"/>
                </a:solidFill>
                <a:latin typeface="Segoe UI"/>
                <a:cs typeface="Segoe UI"/>
              </a:rPr>
              <a:t>PREDICTIVO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00D335D2-F5E2-47CC-9DF8-66FB6B848A10}"/>
              </a:ext>
            </a:extLst>
          </p:cNvPr>
          <p:cNvSpPr txBox="1"/>
          <p:nvPr/>
        </p:nvSpPr>
        <p:spPr>
          <a:xfrm>
            <a:off x="685800" y="2159000"/>
            <a:ext cx="3276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334155"/>
                </a:solidFill>
                <a:latin typeface="Segoe UI"/>
                <a:cs typeface="Segoe UI"/>
              </a:rPr>
              <a:t>Evalúa cada contacto y asigna un puntaje de 0 a 100 analizando 7 criterios: servicio, empresa, cargo, detalle del mensaje, canal, email corporativo y teléfono.</a:t>
            </a:r>
            <a:endParaRPr lang="es-CO" sz="1400">
              <a:solidFill>
                <a:srgbClr val="334155"/>
              </a:solidFill>
              <a:latin typeface="Segoe UI"/>
              <a:cs typeface="Segoe UI"/>
            </a:endParaRPr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C73C39BD-8E6A-4D5D-8CD9-96CAAF55A54A}"/>
              </a:ext>
            </a:extLst>
          </p:cNvPr>
          <p:cNvSpPr/>
          <p:nvPr/>
        </p:nvSpPr>
        <p:spPr>
          <a:xfrm>
            <a:off x="635000" y="3937000"/>
            <a:ext cx="3378200" cy="660400"/>
          </a:xfrm>
          <a:prstGeom prst="round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087743CF-0C06-44FF-B1F0-EA066FD0B643}"/>
              </a:ext>
            </a:extLst>
          </p:cNvPr>
          <p:cNvSpPr txBox="1"/>
          <p:nvPr/>
        </p:nvSpPr>
        <p:spPr>
          <a:xfrm>
            <a:off x="736600" y="40132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200">
                <a:solidFill>
                  <a:srgbClr val="1E407A"/>
                </a:solidFill>
                <a:latin typeface="Segoe UI"/>
                <a:cs typeface="Segoe UI"/>
              </a:rPr>
              <a:t>Clasifica como Caliente (70+), Tibio (40-69) o Frío (&lt;40)</a:t>
            </a:r>
          </a:p>
        </p:txBody>
      </p:sp>
      <p:sp>
        <p:nvSpPr>
          <p:cNvPr id="75" name="Rectángulo: esquinas redondeadas 74">
            <a:extLst>
              <a:ext uri="{FF2B5EF4-FFF2-40B4-BE49-F238E27FC236}">
                <a16:creationId xmlns:a16="http://schemas.microsoft.com/office/drawing/2014/main" id="{AD74D6F0-5976-4771-A02C-50CFE1FA87CA}"/>
              </a:ext>
            </a:extLst>
          </p:cNvPr>
          <p:cNvSpPr/>
          <p:nvPr/>
        </p:nvSpPr>
        <p:spPr>
          <a:xfrm>
            <a:off x="4318000" y="1549400"/>
            <a:ext cx="3632200" cy="32004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CFE4E8BA-AC8F-46CB-AE32-B6B5769DD7BF}"/>
              </a:ext>
            </a:extLst>
          </p:cNvPr>
          <p:cNvSpPr/>
          <p:nvPr/>
        </p:nvSpPr>
        <p:spPr>
          <a:xfrm>
            <a:off x="4318000" y="1549400"/>
            <a:ext cx="3632200" cy="4826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82CB19F0-A096-48A6-B0BE-B1246400FB51}"/>
              </a:ext>
            </a:extLst>
          </p:cNvPr>
          <p:cNvSpPr txBox="1"/>
          <p:nvPr/>
        </p:nvSpPr>
        <p:spPr>
          <a:xfrm>
            <a:off x="4495800" y="1587500"/>
            <a:ext cx="3276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FFFFFF"/>
                </a:solidFill>
                <a:latin typeface="Segoe UI"/>
                <a:cs typeface="Segoe UI"/>
              </a:rPr>
              <a:t>Clasificación de Intención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75549634-D701-4957-B910-6F7CB7752FAC}"/>
              </a:ext>
            </a:extLst>
          </p:cNvPr>
          <p:cNvSpPr txBox="1"/>
          <p:nvPr/>
        </p:nvSpPr>
        <p:spPr>
          <a:xfrm>
            <a:off x="4495800" y="1816100"/>
            <a:ext cx="3276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000" b="1">
                <a:solidFill>
                  <a:srgbClr val="FFFFFF"/>
                </a:solidFill>
                <a:latin typeface="Segoe UI"/>
                <a:cs typeface="Segoe UI"/>
              </a:rPr>
              <a:t>DESCRIPTIVO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5E54E0F2-9813-4B49-ABBF-EAFD2662D3CF}"/>
              </a:ext>
            </a:extLst>
          </p:cNvPr>
          <p:cNvSpPr txBox="1"/>
          <p:nvPr/>
        </p:nvSpPr>
        <p:spPr>
          <a:xfrm>
            <a:off x="4495800" y="2159000"/>
            <a:ext cx="3276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400">
                <a:solidFill>
                  <a:srgbClr val="334155"/>
                </a:solidFill>
                <a:latin typeface="Segoe UI"/>
                <a:cs typeface="Segoe UI"/>
              </a:rPr>
              <a:t>Identifica cuál de las 5 áreas jurídicas necesita el cliente: Administrativo, Competencias, Corporativo, Telecomunicaciones o Marcas, asignando al abogado correcto.</a:t>
            </a:r>
          </a:p>
        </p:txBody>
      </p:sp>
      <p:sp>
        <p:nvSpPr>
          <p:cNvPr id="80" name="Rectángulo: esquinas redondeadas 79">
            <a:extLst>
              <a:ext uri="{FF2B5EF4-FFF2-40B4-BE49-F238E27FC236}">
                <a16:creationId xmlns:a16="http://schemas.microsoft.com/office/drawing/2014/main" id="{0837858D-CA83-4B76-B26B-0E30003EDB36}"/>
              </a:ext>
            </a:extLst>
          </p:cNvPr>
          <p:cNvSpPr/>
          <p:nvPr/>
        </p:nvSpPr>
        <p:spPr>
          <a:xfrm>
            <a:off x="4445000" y="3937000"/>
            <a:ext cx="3378200" cy="660400"/>
          </a:xfrm>
          <a:prstGeom prst="round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7C47348F-4CAF-4C65-8C3C-13580C3D98E6}"/>
              </a:ext>
            </a:extLst>
          </p:cNvPr>
          <p:cNvSpPr txBox="1"/>
          <p:nvPr/>
        </p:nvSpPr>
        <p:spPr>
          <a:xfrm>
            <a:off x="4546600" y="40132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1E407A"/>
                </a:solidFill>
                <a:latin typeface="Segoe UI"/>
                <a:cs typeface="Segoe UI"/>
              </a:rPr>
              <a:t>Ruteo automático al especialista adecuado en segundos</a:t>
            </a:r>
            <a:endParaRPr lang="es-CO" sz="1200">
              <a:solidFill>
                <a:srgbClr val="1E407A"/>
              </a:solidFill>
              <a:latin typeface="Segoe UI"/>
              <a:cs typeface="Segoe UI"/>
            </a:endParaRPr>
          </a:p>
        </p:txBody>
      </p:sp>
      <p:sp>
        <p:nvSpPr>
          <p:cNvPr id="82" name="Rectángulo: esquinas redondeadas 81">
            <a:extLst>
              <a:ext uri="{FF2B5EF4-FFF2-40B4-BE49-F238E27FC236}">
                <a16:creationId xmlns:a16="http://schemas.microsoft.com/office/drawing/2014/main" id="{F1B4B725-0D58-41A8-B1DB-352C679683ED}"/>
              </a:ext>
            </a:extLst>
          </p:cNvPr>
          <p:cNvSpPr/>
          <p:nvPr/>
        </p:nvSpPr>
        <p:spPr>
          <a:xfrm>
            <a:off x="8128000" y="1549400"/>
            <a:ext cx="3632200" cy="32004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F0D5FF78-A266-41BB-B195-B6403F42E78F}"/>
              </a:ext>
            </a:extLst>
          </p:cNvPr>
          <p:cNvSpPr/>
          <p:nvPr/>
        </p:nvSpPr>
        <p:spPr>
          <a:xfrm>
            <a:off x="8128000" y="1549400"/>
            <a:ext cx="3632200" cy="482600"/>
          </a:xfrm>
          <a:prstGeom prst="rect">
            <a:avLst/>
          </a:prstGeom>
          <a:solidFill>
            <a:srgbClr val="22C55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AA788BCF-6959-4FDA-9C49-DA47C80DD026}"/>
              </a:ext>
            </a:extLst>
          </p:cNvPr>
          <p:cNvSpPr txBox="1"/>
          <p:nvPr/>
        </p:nvSpPr>
        <p:spPr>
          <a:xfrm>
            <a:off x="8305800" y="1587500"/>
            <a:ext cx="3276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FFFFFF"/>
                </a:solidFill>
                <a:latin typeface="Segoe UI"/>
                <a:cs typeface="Segoe UI"/>
              </a:rPr>
              <a:t>Respuesta Inteligente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4660E14D-6610-43EB-8C1E-C06732E94029}"/>
              </a:ext>
            </a:extLst>
          </p:cNvPr>
          <p:cNvSpPr txBox="1"/>
          <p:nvPr/>
        </p:nvSpPr>
        <p:spPr>
          <a:xfrm>
            <a:off x="8305800" y="1816100"/>
            <a:ext cx="3276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000" b="1">
                <a:solidFill>
                  <a:srgbClr val="FFFFFF"/>
                </a:solidFill>
                <a:latin typeface="Segoe UI"/>
                <a:cs typeface="Segoe UI"/>
              </a:rPr>
              <a:t>GENERATIVO (RAG)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2D943DB2-48A9-499D-8B61-763F9C332BA4}"/>
              </a:ext>
            </a:extLst>
          </p:cNvPr>
          <p:cNvSpPr txBox="1"/>
          <p:nvPr/>
        </p:nvSpPr>
        <p:spPr>
          <a:xfrm>
            <a:off x="8305800" y="2159000"/>
            <a:ext cx="3276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334155"/>
                </a:solidFill>
                <a:latin typeface="Segoe UI"/>
                <a:cs typeface="Segoe UI"/>
              </a:rPr>
              <a:t>Con IA generativa y legislación colombiana como base de conocimiento, redacta una respuesta personalizada para cada lead, adaptada a su problema específico.</a:t>
            </a:r>
            <a:endParaRPr lang="es-CO" sz="1400">
              <a:solidFill>
                <a:srgbClr val="334155"/>
              </a:solidFill>
              <a:latin typeface="Segoe UI"/>
              <a:cs typeface="Segoe UI"/>
            </a:endParaRPr>
          </a:p>
        </p:txBody>
      </p:sp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5FA99BD2-4E1D-49FE-8881-0153A93057A1}"/>
              </a:ext>
            </a:extLst>
          </p:cNvPr>
          <p:cNvSpPr/>
          <p:nvPr/>
        </p:nvSpPr>
        <p:spPr>
          <a:xfrm>
            <a:off x="8255000" y="3937000"/>
            <a:ext cx="3378200" cy="660400"/>
          </a:xfrm>
          <a:prstGeom prst="round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C2355732-E25D-4EE8-B50F-065F14B281B0}"/>
              </a:ext>
            </a:extLst>
          </p:cNvPr>
          <p:cNvSpPr txBox="1"/>
          <p:nvPr/>
        </p:nvSpPr>
        <p:spPr>
          <a:xfrm>
            <a:off x="8356600" y="40132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200">
                <a:solidFill>
                  <a:srgbClr val="1E407A"/>
                </a:solidFill>
                <a:latin typeface="Segoe UI"/>
                <a:cs typeface="Segoe UI"/>
              </a:rPr>
              <a:t>Email personalizado enviado en menos de 60 segundos</a:t>
            </a:r>
          </a:p>
        </p:txBody>
      </p:sp>
      <p:sp>
        <p:nvSpPr>
          <p:cNvPr id="89" name="Rectángulo: esquinas redondeadas 88">
            <a:extLst>
              <a:ext uri="{FF2B5EF4-FFF2-40B4-BE49-F238E27FC236}">
                <a16:creationId xmlns:a16="http://schemas.microsoft.com/office/drawing/2014/main" id="{D237E19B-7EF0-44DF-B751-2F9183AC801E}"/>
              </a:ext>
            </a:extLst>
          </p:cNvPr>
          <p:cNvSpPr/>
          <p:nvPr/>
        </p:nvSpPr>
        <p:spPr>
          <a:xfrm>
            <a:off x="508000" y="4953000"/>
            <a:ext cx="11252200" cy="939800"/>
          </a:xfrm>
          <a:prstGeom prst="roundRect">
            <a:avLst/>
          </a:prstGeom>
          <a:solidFill>
            <a:srgbClr val="F0F4F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AEF237D0-FB4E-4BFD-806D-7BDEF556A3D3}"/>
              </a:ext>
            </a:extLst>
          </p:cNvPr>
          <p:cNvSpPr txBox="1"/>
          <p:nvPr/>
        </p:nvSpPr>
        <p:spPr>
          <a:xfrm>
            <a:off x="736600" y="50038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64748B"/>
                </a:solidFill>
                <a:latin typeface="Segoe UI"/>
                <a:cs typeface="Segoe UI"/>
              </a:rPr>
              <a:t>Supuestos y limitaciones: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BA8E145C-B4B7-4F4F-92EA-9637E1455304}"/>
              </a:ext>
            </a:extLst>
          </p:cNvPr>
          <p:cNvSpPr txBox="1"/>
          <p:nvPr/>
        </p:nvSpPr>
        <p:spPr>
          <a:xfrm>
            <a:off x="736600" y="5283200"/>
            <a:ext cx="10845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dirty="0">
                <a:solidFill>
                  <a:srgbClr val="64748B"/>
                </a:solidFill>
                <a:latin typeface="Segoe UI"/>
                <a:cs typeface="Segoe UI"/>
              </a:rPr>
              <a:t>Comienza con reglas de negocio, evolucionando a ML con datos reales. RAG limitado a legislación colombiana  |  3 meses de validación manual</a:t>
            </a:r>
            <a:endParaRPr lang="es-CO" sz="1400" dirty="0">
              <a:solidFill>
                <a:srgbClr val="64748B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101CD004-15BC-4E03-BB05-252C9D88C17B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64E83CE-09BF-48DC-B862-D6229817A5B6}"/>
              </a:ext>
            </a:extLst>
          </p:cNvPr>
          <p:cNvSpPr/>
          <p:nvPr/>
        </p:nvSpPr>
        <p:spPr>
          <a:xfrm>
            <a:off x="0" y="965200"/>
            <a:ext cx="12192000" cy="381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9DFBBE11-3557-4305-9A34-58429B14D41D}"/>
              </a:ext>
            </a:extLst>
          </p:cNvPr>
          <p:cNvSpPr/>
          <p:nvPr/>
        </p:nvSpPr>
        <p:spPr>
          <a:xfrm>
            <a:off x="457200" y="203200"/>
            <a:ext cx="508000" cy="508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1600" b="1">
                <a:solidFill>
                  <a:srgbClr val="FFFFFF"/>
                </a:solidFill>
                <a:latin typeface="Segoe UI"/>
                <a:cs typeface="Segoe UI"/>
              </a:rPr>
              <a:t>05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FDCC0C8-9674-4838-A11B-3281CB226232}"/>
              </a:ext>
            </a:extLst>
          </p:cNvPr>
          <p:cNvSpPr txBox="1"/>
          <p:nvPr/>
        </p:nvSpPr>
        <p:spPr>
          <a:xfrm>
            <a:off x="1092200" y="203200"/>
            <a:ext cx="635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400" b="1">
                <a:solidFill>
                  <a:srgbClr val="FFFFFF"/>
                </a:solidFill>
                <a:latin typeface="Segoe UI"/>
                <a:cs typeface="Segoe UI"/>
              </a:rPr>
              <a:t>Resultados e Insights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FEA69A5-DA6E-41C7-B9E4-316FC64AB3A7}"/>
              </a:ext>
            </a:extLst>
          </p:cNvPr>
          <p:cNvSpPr txBox="1"/>
          <p:nvPr/>
        </p:nvSpPr>
        <p:spPr>
          <a:xfrm>
            <a:off x="1092200" y="609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B0C4DE"/>
                </a:solidFill>
                <a:latin typeface="Segoe UI"/>
                <a:cs typeface="Segoe UI"/>
              </a:rPr>
              <a:t>Qué aprendimos y cómo esto transforma el negocio</a:t>
            </a:r>
            <a:endParaRPr lang="es-CO" sz="1400">
              <a:solidFill>
                <a:srgbClr val="B0C4DE"/>
              </a:solidFill>
              <a:latin typeface="Segoe UI"/>
              <a:cs typeface="Segoe UI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62FFEFC-A249-415B-9C11-529E54494550}"/>
              </a:ext>
            </a:extLst>
          </p:cNvPr>
          <p:cNvSpPr txBox="1"/>
          <p:nvPr/>
        </p:nvSpPr>
        <p:spPr>
          <a:xfrm>
            <a:off x="457200" y="65532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Alexis Jaramillo | MIAA 2026-1 | U. Icesi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2E071E1-02F4-4762-A5C1-7213A99E9615}"/>
              </a:ext>
            </a:extLst>
          </p:cNvPr>
          <p:cNvSpPr txBox="1"/>
          <p:nvPr/>
        </p:nvSpPr>
        <p:spPr>
          <a:xfrm>
            <a:off x="11176000" y="65532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8/11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5C0EDF56-3CB5-424F-B3A7-3917A52B626A}"/>
              </a:ext>
            </a:extLst>
          </p:cNvPr>
          <p:cNvSpPr/>
          <p:nvPr/>
        </p:nvSpPr>
        <p:spPr>
          <a:xfrm>
            <a:off x="508000" y="1143000"/>
            <a:ext cx="11252200" cy="11684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0665B01F-211B-4B52-A39F-D4C9E67AF15F}"/>
              </a:ext>
            </a:extLst>
          </p:cNvPr>
          <p:cNvSpPr/>
          <p:nvPr/>
        </p:nvSpPr>
        <p:spPr>
          <a:xfrm>
            <a:off x="508000" y="1143000"/>
            <a:ext cx="63500" cy="11684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6FC3F626-471A-444B-AE23-789BBCF2C602}"/>
              </a:ext>
            </a:extLst>
          </p:cNvPr>
          <p:cNvSpPr/>
          <p:nvPr/>
        </p:nvSpPr>
        <p:spPr>
          <a:xfrm>
            <a:off x="736600" y="1320800"/>
            <a:ext cx="457200" cy="457200"/>
          </a:xfrm>
          <a:prstGeom prst="ellipse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FCDB6BC9-733A-43F3-B238-3CB5BFBD196D}"/>
              </a:ext>
            </a:extLst>
          </p:cNvPr>
          <p:cNvSpPr txBox="1"/>
          <p:nvPr/>
        </p:nvSpPr>
        <p:spPr>
          <a:xfrm>
            <a:off x="1371600" y="1270000"/>
            <a:ext cx="1003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600" b="1">
                <a:solidFill>
                  <a:srgbClr val="0F172A"/>
                </a:solidFill>
                <a:latin typeface="Segoe UI"/>
                <a:cs typeface="Segoe UI"/>
              </a:rPr>
              <a:t>El problema no es la demanda, es la capacidad de respuesta</a:t>
            </a:r>
            <a:endParaRPr lang="es-CO" sz="1600" b="1">
              <a:solidFill>
                <a:srgbClr val="0F172A"/>
              </a:solidFill>
              <a:latin typeface="Segoe UI"/>
              <a:cs typeface="Segoe UI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6C3EF0E5-EEFC-4975-AAEE-BCD47FB8741F}"/>
              </a:ext>
            </a:extLst>
          </p:cNvPr>
          <p:cNvSpPr txBox="1"/>
          <p:nvPr/>
        </p:nvSpPr>
        <p:spPr>
          <a:xfrm>
            <a:off x="1371600" y="1625600"/>
            <a:ext cx="10033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Los datos demuestran que los clientes SÍ llegan, pero el bufete los pierde por demora. Un sistema que responda en 60 segundos, las 24 horas, cambia completamente la ecuación.</a:t>
            </a:r>
            <a:endParaRPr lang="es-CO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6F5DDDD2-C5AD-474E-92C2-01AB09747B6A}"/>
              </a:ext>
            </a:extLst>
          </p:cNvPr>
          <p:cNvSpPr/>
          <p:nvPr/>
        </p:nvSpPr>
        <p:spPr>
          <a:xfrm>
            <a:off x="508000" y="2489200"/>
            <a:ext cx="11252200" cy="11684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71253E0B-92DA-40CC-9DC0-9EB54C62F183}"/>
              </a:ext>
            </a:extLst>
          </p:cNvPr>
          <p:cNvSpPr/>
          <p:nvPr/>
        </p:nvSpPr>
        <p:spPr>
          <a:xfrm>
            <a:off x="508000" y="2489200"/>
            <a:ext cx="63500" cy="11684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A5296546-EEDE-4670-95A6-C7D037D46001}"/>
              </a:ext>
            </a:extLst>
          </p:cNvPr>
          <p:cNvSpPr/>
          <p:nvPr/>
        </p:nvSpPr>
        <p:spPr>
          <a:xfrm>
            <a:off x="736600" y="2667000"/>
            <a:ext cx="457200" cy="457200"/>
          </a:xfrm>
          <a:prstGeom prst="ellipse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8D41E28F-1BCB-4E3E-9657-400AB00FC3A0}"/>
              </a:ext>
            </a:extLst>
          </p:cNvPr>
          <p:cNvSpPr txBox="1"/>
          <p:nvPr/>
        </p:nvSpPr>
        <p:spPr>
          <a:xfrm>
            <a:off x="1371600" y="2616200"/>
            <a:ext cx="1003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600" b="1">
                <a:solidFill>
                  <a:srgbClr val="0F172A"/>
                </a:solidFill>
                <a:latin typeface="Segoe UI"/>
                <a:cs typeface="Segoe UI"/>
              </a:rPr>
              <a:t>El 60% del esfuerzo debe ir a Civil y Laboral</a:t>
            </a:r>
            <a:endParaRPr lang="es-CO" sz="1600" b="1">
              <a:solidFill>
                <a:srgbClr val="0F172A"/>
              </a:solidFill>
              <a:latin typeface="Segoe UI"/>
              <a:cs typeface="Segoe UI"/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7CAF7C7-D759-42F3-8479-EDA7660A8A28}"/>
              </a:ext>
            </a:extLst>
          </p:cNvPr>
          <p:cNvSpPr txBox="1"/>
          <p:nvPr/>
        </p:nvSpPr>
        <p:spPr>
          <a:xfrm>
            <a:off x="1371600" y="2971800"/>
            <a:ext cx="10033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Estas dos áreas concentran el 60% de todas las consultas. Enfocando la IA primero aquí, logramos el máximo retorno con la inversión mínima.</a:t>
            </a:r>
            <a:endParaRPr lang="es-CO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AA5F5932-B5AE-4C96-A51A-93B1A936178D}"/>
              </a:ext>
            </a:extLst>
          </p:cNvPr>
          <p:cNvSpPr/>
          <p:nvPr/>
        </p:nvSpPr>
        <p:spPr>
          <a:xfrm>
            <a:off x="508000" y="3835400"/>
            <a:ext cx="11252200" cy="11684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25C61B95-2897-4DC4-87DC-501F6DC58DA0}"/>
              </a:ext>
            </a:extLst>
          </p:cNvPr>
          <p:cNvSpPr/>
          <p:nvPr/>
        </p:nvSpPr>
        <p:spPr>
          <a:xfrm>
            <a:off x="508000" y="3835400"/>
            <a:ext cx="63500" cy="1168400"/>
          </a:xfrm>
          <a:prstGeom prst="rect">
            <a:avLst/>
          </a:prstGeom>
          <a:solidFill>
            <a:srgbClr val="22C55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DCEBBAB7-47E0-4650-A2FF-42DB46EE86A5}"/>
              </a:ext>
            </a:extLst>
          </p:cNvPr>
          <p:cNvSpPr/>
          <p:nvPr/>
        </p:nvSpPr>
        <p:spPr>
          <a:xfrm>
            <a:off x="736600" y="4013200"/>
            <a:ext cx="457200" cy="457200"/>
          </a:xfrm>
          <a:prstGeom prst="ellipse">
            <a:avLst/>
          </a:prstGeom>
          <a:solidFill>
            <a:srgbClr val="22C55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60E5B69E-7D34-40A1-BBC0-128917EB2143}"/>
              </a:ext>
            </a:extLst>
          </p:cNvPr>
          <p:cNvSpPr txBox="1"/>
          <p:nvPr/>
        </p:nvSpPr>
        <p:spPr>
          <a:xfrm>
            <a:off x="1371600" y="3962400"/>
            <a:ext cx="1003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600" b="1">
                <a:solidFill>
                  <a:srgbClr val="0F172A"/>
                </a:solidFill>
                <a:latin typeface="Segoe UI"/>
                <a:cs typeface="Segoe UI"/>
              </a:rPr>
              <a:t>Los leads tibios son la mina de oro oculta</a:t>
            </a:r>
            <a:endParaRPr lang="es-CO" sz="1600" b="1">
              <a:solidFill>
                <a:srgbClr val="0F172A"/>
              </a:solidFill>
              <a:latin typeface="Segoe UI"/>
              <a:cs typeface="Segoe UI"/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36A7FBC6-A1AF-4AE9-972E-3A572C2E9EAA}"/>
              </a:ext>
            </a:extLst>
          </p:cNvPr>
          <p:cNvSpPr txBox="1"/>
          <p:nvPr/>
        </p:nvSpPr>
        <p:spPr>
          <a:xfrm>
            <a:off x="1371600" y="4318000"/>
            <a:ext cx="10033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El grueso de los contactos tiene un score medio (40-69 puntos). Con seguimiento automático inteligente, estos leads tibios pueden convertirse en clientes.</a:t>
            </a:r>
            <a:endParaRPr lang="es-CO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E1B177EF-AD66-432C-B63D-DB038B12AF28}"/>
              </a:ext>
            </a:extLst>
          </p:cNvPr>
          <p:cNvSpPr/>
          <p:nvPr/>
        </p:nvSpPr>
        <p:spPr>
          <a:xfrm>
            <a:off x="508000" y="5181600"/>
            <a:ext cx="11252200" cy="1168400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848CE40A-DF5C-4895-B526-7EFDD502D05D}"/>
              </a:ext>
            </a:extLst>
          </p:cNvPr>
          <p:cNvSpPr/>
          <p:nvPr/>
        </p:nvSpPr>
        <p:spPr>
          <a:xfrm>
            <a:off x="508000" y="5181600"/>
            <a:ext cx="63500" cy="1168400"/>
          </a:xfrm>
          <a:prstGeom prst="rect">
            <a:avLst/>
          </a:prstGeom>
          <a:solidFill>
            <a:srgbClr val="8B5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8D511217-1B82-47EB-905A-AEF70C124A51}"/>
              </a:ext>
            </a:extLst>
          </p:cNvPr>
          <p:cNvSpPr/>
          <p:nvPr/>
        </p:nvSpPr>
        <p:spPr>
          <a:xfrm>
            <a:off x="736600" y="5359400"/>
            <a:ext cx="457200" cy="457200"/>
          </a:xfrm>
          <a:prstGeom prst="ellipse">
            <a:avLst/>
          </a:prstGeom>
          <a:solidFill>
            <a:srgbClr val="8B5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8C09E30D-28C6-48EB-B50C-ED325CE3B064}"/>
              </a:ext>
            </a:extLst>
          </p:cNvPr>
          <p:cNvSpPr txBox="1"/>
          <p:nvPr/>
        </p:nvSpPr>
        <p:spPr>
          <a:xfrm>
            <a:off x="1371600" y="5308600"/>
            <a:ext cx="1003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600" b="1">
                <a:solidFill>
                  <a:srgbClr val="0F172A"/>
                </a:solidFill>
                <a:latin typeface="Segoe UI"/>
                <a:cs typeface="Segoe UI"/>
              </a:rPr>
              <a:t>El ROI se paga en menos de 6 meses</a:t>
            </a:r>
            <a:endParaRPr lang="es-CO" sz="1600" b="1">
              <a:solidFill>
                <a:srgbClr val="0F172A"/>
              </a:solidFill>
              <a:latin typeface="Segoe UI"/>
              <a:cs typeface="Segoe UI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DD9F95EA-1AD1-4689-B9F7-A29CAD217BEA}"/>
              </a:ext>
            </a:extLst>
          </p:cNvPr>
          <p:cNvSpPr txBox="1"/>
          <p:nvPr/>
        </p:nvSpPr>
        <p:spPr>
          <a:xfrm>
            <a:off x="1371600" y="5664200"/>
            <a:ext cx="10033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El costo de la plataforma es ~$50M COP/año. Solo la recuperación de horas facturables representa $72M COP/año. Un solo cliente adicional por mes genera +$5M en ingresos.</a:t>
            </a:r>
            <a:endParaRPr lang="es-CO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ángulo 50">
            <a:extLst>
              <a:ext uri="{FF2B5EF4-FFF2-40B4-BE49-F238E27FC236}">
                <a16:creationId xmlns:a16="http://schemas.microsoft.com/office/drawing/2014/main" id="{03C53364-837C-46EF-8F01-95EA4D06B6FE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2DC1D340-A9E0-41F6-91E6-2D93933BAD3A}"/>
              </a:ext>
            </a:extLst>
          </p:cNvPr>
          <p:cNvSpPr/>
          <p:nvPr/>
        </p:nvSpPr>
        <p:spPr>
          <a:xfrm>
            <a:off x="0" y="965200"/>
            <a:ext cx="12192000" cy="381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BCF585AA-D869-43CE-9C71-EFB0551154EB}"/>
              </a:ext>
            </a:extLst>
          </p:cNvPr>
          <p:cNvSpPr/>
          <p:nvPr/>
        </p:nvSpPr>
        <p:spPr>
          <a:xfrm>
            <a:off x="457200" y="203200"/>
            <a:ext cx="508000" cy="508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1600" b="1">
                <a:solidFill>
                  <a:srgbClr val="FFFFFF"/>
                </a:solidFill>
                <a:latin typeface="Segoe UI"/>
                <a:cs typeface="Segoe UI"/>
              </a:rPr>
              <a:t>06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972DB55A-F3F0-4313-BD9D-8D9DF6B803FD}"/>
              </a:ext>
            </a:extLst>
          </p:cNvPr>
          <p:cNvSpPr txBox="1"/>
          <p:nvPr/>
        </p:nvSpPr>
        <p:spPr>
          <a:xfrm>
            <a:off x="1092200" y="203200"/>
            <a:ext cx="635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400" b="1">
                <a:solidFill>
                  <a:srgbClr val="FFFFFF"/>
                </a:solidFill>
                <a:latin typeface="Segoe UI"/>
                <a:cs typeface="Segoe UI"/>
              </a:rPr>
              <a:t>Despliegue y Uso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A54CD83-DE64-4C2E-B5A6-2A9A3808453A}"/>
              </a:ext>
            </a:extLst>
          </p:cNvPr>
          <p:cNvSpPr txBox="1"/>
          <p:nvPr/>
        </p:nvSpPr>
        <p:spPr>
          <a:xfrm>
            <a:off x="1092200" y="609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B0C4DE"/>
                </a:solidFill>
                <a:latin typeface="Segoe UI"/>
                <a:cs typeface="Segoe UI"/>
              </a:rPr>
              <a:t>Cómo funciona en la práctica y quién lo usa</a:t>
            </a:r>
            <a:endParaRPr lang="es-CO" sz="1400">
              <a:solidFill>
                <a:srgbClr val="B0C4DE"/>
              </a:solidFill>
              <a:latin typeface="Segoe UI"/>
              <a:cs typeface="Segoe UI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3A68B593-05F9-499D-9164-26758D9067CC}"/>
              </a:ext>
            </a:extLst>
          </p:cNvPr>
          <p:cNvSpPr txBox="1"/>
          <p:nvPr/>
        </p:nvSpPr>
        <p:spPr>
          <a:xfrm>
            <a:off x="457200" y="65532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Alexis Jaramillo | MIAA 2026-1 | U. Icesi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9350BCE4-A0B6-42C2-8E20-8C75EC5058E2}"/>
              </a:ext>
            </a:extLst>
          </p:cNvPr>
          <p:cNvSpPr txBox="1"/>
          <p:nvPr/>
        </p:nvSpPr>
        <p:spPr>
          <a:xfrm>
            <a:off x="11176000" y="65532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9/11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C579E374-F0B0-4F74-8CDB-AB3AEEB8ABB4}"/>
              </a:ext>
            </a:extLst>
          </p:cNvPr>
          <p:cNvSpPr txBox="1"/>
          <p:nvPr/>
        </p:nvSpPr>
        <p:spPr>
          <a:xfrm>
            <a:off x="508000" y="11176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600" b="1">
                <a:solidFill>
                  <a:srgbClr val="1E407A"/>
                </a:solidFill>
                <a:latin typeface="Segoe UI"/>
                <a:cs typeface="Segoe UI"/>
              </a:rPr>
              <a:t>El viaje de un lead: de desconocido a cliente en 60 segundos</a:t>
            </a:r>
            <a:endParaRPr lang="es-CO" sz="1600" b="1">
              <a:solidFill>
                <a:srgbClr val="1E407A"/>
              </a:solidFill>
              <a:latin typeface="Segoe UI"/>
              <a:cs typeface="Segoe UI"/>
            </a:endParaRPr>
          </a:p>
        </p:txBody>
      </p:sp>
      <p:sp>
        <p:nvSpPr>
          <p:cNvPr id="108" name="Rectángulo: esquinas redondeadas 107">
            <a:extLst>
              <a:ext uri="{FF2B5EF4-FFF2-40B4-BE49-F238E27FC236}">
                <a16:creationId xmlns:a16="http://schemas.microsoft.com/office/drawing/2014/main" id="{F09E0499-A118-46E1-8902-5C0F206DEE46}"/>
              </a:ext>
            </a:extLst>
          </p:cNvPr>
          <p:cNvSpPr/>
          <p:nvPr/>
        </p:nvSpPr>
        <p:spPr>
          <a:xfrm>
            <a:off x="508000" y="1524000"/>
            <a:ext cx="2082800" cy="1524000"/>
          </a:xfrm>
          <a:prstGeom prst="round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9" name="Elipse 108">
            <a:extLst>
              <a:ext uri="{FF2B5EF4-FFF2-40B4-BE49-F238E27FC236}">
                <a16:creationId xmlns:a16="http://schemas.microsoft.com/office/drawing/2014/main" id="{43384537-5BCB-48B7-B13E-01A60811DD93}"/>
              </a:ext>
            </a:extLst>
          </p:cNvPr>
          <p:cNvSpPr/>
          <p:nvPr/>
        </p:nvSpPr>
        <p:spPr>
          <a:xfrm>
            <a:off x="1295400" y="1625600"/>
            <a:ext cx="508000" cy="508000"/>
          </a:xfrm>
          <a:prstGeom prst="ellipse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0F172A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5343B4E2-DF56-494C-BC06-7EEE6F1CE2D6}"/>
              </a:ext>
            </a:extLst>
          </p:cNvPr>
          <p:cNvSpPr txBox="1"/>
          <p:nvPr/>
        </p:nvSpPr>
        <p:spPr>
          <a:xfrm>
            <a:off x="635000" y="21844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F5A623"/>
                </a:solidFill>
                <a:latin typeface="Segoe UI"/>
                <a:cs typeface="Segoe UI"/>
              </a:rPr>
              <a:t>Contacto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32BEFF83-3B85-4D04-9AF9-CEBD4786C269}"/>
              </a:ext>
            </a:extLst>
          </p:cNvPr>
          <p:cNvSpPr txBox="1"/>
          <p:nvPr/>
        </p:nvSpPr>
        <p:spPr>
          <a:xfrm>
            <a:off x="635000" y="2489200"/>
            <a:ext cx="1828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CBD5E1"/>
                </a:solidFill>
                <a:latin typeface="Segoe UI"/>
                <a:cs typeface="Segoe UI"/>
              </a:rPr>
              <a:t>Visitante llena el formulario web</a:t>
            </a:r>
            <a:endParaRPr lang="es-CO" sz="1100">
              <a:solidFill>
                <a:srgbClr val="CBD5E1"/>
              </a:solidFill>
              <a:latin typeface="Segoe UI"/>
              <a:cs typeface="Segoe UI"/>
            </a:endParaRP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1C3166C8-9328-4A97-A0BC-1AF144819F71}"/>
              </a:ext>
            </a:extLst>
          </p:cNvPr>
          <p:cNvSpPr txBox="1"/>
          <p:nvPr/>
        </p:nvSpPr>
        <p:spPr>
          <a:xfrm>
            <a:off x="2603500" y="2108200"/>
            <a:ext cx="15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F5A623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13" name="Rectángulo: esquinas redondeadas 112">
            <a:extLst>
              <a:ext uri="{FF2B5EF4-FFF2-40B4-BE49-F238E27FC236}">
                <a16:creationId xmlns:a16="http://schemas.microsoft.com/office/drawing/2014/main" id="{2081DF10-8282-467A-B9DE-7CF8C86CC18C}"/>
              </a:ext>
            </a:extLst>
          </p:cNvPr>
          <p:cNvSpPr/>
          <p:nvPr/>
        </p:nvSpPr>
        <p:spPr>
          <a:xfrm>
            <a:off x="2743200" y="1524000"/>
            <a:ext cx="2082800" cy="1524000"/>
          </a:xfrm>
          <a:prstGeom prst="round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4" name="Elipse 113">
            <a:extLst>
              <a:ext uri="{FF2B5EF4-FFF2-40B4-BE49-F238E27FC236}">
                <a16:creationId xmlns:a16="http://schemas.microsoft.com/office/drawing/2014/main" id="{1D4DB7D7-0B66-4ACC-9D0E-DE9685F752F9}"/>
              </a:ext>
            </a:extLst>
          </p:cNvPr>
          <p:cNvSpPr/>
          <p:nvPr/>
        </p:nvSpPr>
        <p:spPr>
          <a:xfrm>
            <a:off x="3530600" y="1625600"/>
            <a:ext cx="508000" cy="508000"/>
          </a:xfrm>
          <a:prstGeom prst="ellipse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0F172A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51D3051B-1574-48EB-A14F-FBFFBFDEA9D2}"/>
              </a:ext>
            </a:extLst>
          </p:cNvPr>
          <p:cNvSpPr txBox="1"/>
          <p:nvPr/>
        </p:nvSpPr>
        <p:spPr>
          <a:xfrm>
            <a:off x="2870200" y="21844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F5A623"/>
                </a:solidFill>
                <a:latin typeface="Segoe UI"/>
                <a:cs typeface="Segoe UI"/>
              </a:rPr>
              <a:t>Registro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22723ED0-D3AC-419E-B76A-75CF01589258}"/>
              </a:ext>
            </a:extLst>
          </p:cNvPr>
          <p:cNvSpPr txBox="1"/>
          <p:nvPr/>
        </p:nvSpPr>
        <p:spPr>
          <a:xfrm>
            <a:off x="2870200" y="2489200"/>
            <a:ext cx="1828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CBD5E1"/>
                </a:solidFill>
                <a:latin typeface="Segoe UI"/>
                <a:cs typeface="Segoe UI"/>
              </a:rPr>
              <a:t>Sistema guarda datos y activa la IA</a:t>
            </a:r>
            <a:endParaRPr lang="es-CO" sz="1100">
              <a:solidFill>
                <a:srgbClr val="CBD5E1"/>
              </a:solidFill>
              <a:latin typeface="Segoe UI"/>
              <a:cs typeface="Segoe UI"/>
            </a:endParaRP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00ECA37A-DBE1-46DD-BD5C-65A869AAD684}"/>
              </a:ext>
            </a:extLst>
          </p:cNvPr>
          <p:cNvSpPr txBox="1"/>
          <p:nvPr/>
        </p:nvSpPr>
        <p:spPr>
          <a:xfrm>
            <a:off x="4838700" y="2108200"/>
            <a:ext cx="15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F5A623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18" name="Rectángulo: esquinas redondeadas 117">
            <a:extLst>
              <a:ext uri="{FF2B5EF4-FFF2-40B4-BE49-F238E27FC236}">
                <a16:creationId xmlns:a16="http://schemas.microsoft.com/office/drawing/2014/main" id="{E2D099F3-060B-4B4E-919C-419305238D3C}"/>
              </a:ext>
            </a:extLst>
          </p:cNvPr>
          <p:cNvSpPr/>
          <p:nvPr/>
        </p:nvSpPr>
        <p:spPr>
          <a:xfrm>
            <a:off x="4978400" y="1524000"/>
            <a:ext cx="2082800" cy="1524000"/>
          </a:xfrm>
          <a:prstGeom prst="round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6B049D30-4020-4905-BB74-96B4C492051C}"/>
              </a:ext>
            </a:extLst>
          </p:cNvPr>
          <p:cNvSpPr/>
          <p:nvPr/>
        </p:nvSpPr>
        <p:spPr>
          <a:xfrm>
            <a:off x="5765800" y="1625600"/>
            <a:ext cx="508000" cy="508000"/>
          </a:xfrm>
          <a:prstGeom prst="ellipse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0F172A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F50123B8-2BDD-4414-BC21-B3DB13EFCF02}"/>
              </a:ext>
            </a:extLst>
          </p:cNvPr>
          <p:cNvSpPr txBox="1"/>
          <p:nvPr/>
        </p:nvSpPr>
        <p:spPr>
          <a:xfrm>
            <a:off x="5105400" y="21844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F5A623"/>
                </a:solidFill>
                <a:latin typeface="Segoe UI"/>
                <a:cs typeface="Segoe UI"/>
              </a:rPr>
              <a:t>Calificación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8D5AB94F-605D-4A5A-823E-622F0FEE4D38}"/>
              </a:ext>
            </a:extLst>
          </p:cNvPr>
          <p:cNvSpPr txBox="1"/>
          <p:nvPr/>
        </p:nvSpPr>
        <p:spPr>
          <a:xfrm>
            <a:off x="5105400" y="2489200"/>
            <a:ext cx="1828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CBD5E1"/>
                </a:solidFill>
                <a:latin typeface="Segoe UI"/>
                <a:cs typeface="Segoe UI"/>
              </a:rPr>
              <a:t>IA evalúa al lead: puntaje 0-100</a:t>
            </a:r>
            <a:endParaRPr lang="es-CO" sz="1100">
              <a:solidFill>
                <a:srgbClr val="CBD5E1"/>
              </a:solidFill>
              <a:latin typeface="Segoe UI"/>
              <a:cs typeface="Segoe UI"/>
            </a:endParaRPr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99002153-77A8-486F-9485-2B51028968AB}"/>
              </a:ext>
            </a:extLst>
          </p:cNvPr>
          <p:cNvSpPr txBox="1"/>
          <p:nvPr/>
        </p:nvSpPr>
        <p:spPr>
          <a:xfrm>
            <a:off x="7073900" y="2108200"/>
            <a:ext cx="15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F5A623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23" name="Rectángulo: esquinas redondeadas 122">
            <a:extLst>
              <a:ext uri="{FF2B5EF4-FFF2-40B4-BE49-F238E27FC236}">
                <a16:creationId xmlns:a16="http://schemas.microsoft.com/office/drawing/2014/main" id="{31ECD5E9-29FF-4FE6-BF1C-F08F1D403823}"/>
              </a:ext>
            </a:extLst>
          </p:cNvPr>
          <p:cNvSpPr/>
          <p:nvPr/>
        </p:nvSpPr>
        <p:spPr>
          <a:xfrm>
            <a:off x="7213600" y="1524000"/>
            <a:ext cx="2082800" cy="1524000"/>
          </a:xfrm>
          <a:prstGeom prst="round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24" name="Elipse 123">
            <a:extLst>
              <a:ext uri="{FF2B5EF4-FFF2-40B4-BE49-F238E27FC236}">
                <a16:creationId xmlns:a16="http://schemas.microsoft.com/office/drawing/2014/main" id="{B973CEDB-272F-4713-8903-F866AA16712C}"/>
              </a:ext>
            </a:extLst>
          </p:cNvPr>
          <p:cNvSpPr/>
          <p:nvPr/>
        </p:nvSpPr>
        <p:spPr>
          <a:xfrm>
            <a:off x="8001000" y="1625600"/>
            <a:ext cx="508000" cy="508000"/>
          </a:xfrm>
          <a:prstGeom prst="ellipse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0F172A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02B6827C-C9B7-466A-9CB8-F0EAB7B7420F}"/>
              </a:ext>
            </a:extLst>
          </p:cNvPr>
          <p:cNvSpPr txBox="1"/>
          <p:nvPr/>
        </p:nvSpPr>
        <p:spPr>
          <a:xfrm>
            <a:off x="7340600" y="21844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F5A623"/>
                </a:solidFill>
                <a:latin typeface="Segoe UI"/>
                <a:cs typeface="Segoe UI"/>
              </a:rPr>
              <a:t>Respuesta</a:t>
            </a:r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E7CA7A15-75CB-4242-AC51-8C2D85B4AB3C}"/>
              </a:ext>
            </a:extLst>
          </p:cNvPr>
          <p:cNvSpPr txBox="1"/>
          <p:nvPr/>
        </p:nvSpPr>
        <p:spPr>
          <a:xfrm>
            <a:off x="7340600" y="2489200"/>
            <a:ext cx="1828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CBD5E1"/>
                </a:solidFill>
                <a:latin typeface="Segoe UI"/>
                <a:cs typeface="Segoe UI"/>
              </a:rPr>
              <a:t>Email personalizado en &lt; 1 minuto</a:t>
            </a:r>
            <a:endParaRPr lang="es-CO" sz="1100">
              <a:solidFill>
                <a:srgbClr val="CBD5E1"/>
              </a:solidFill>
              <a:latin typeface="Segoe UI"/>
              <a:cs typeface="Segoe UI"/>
            </a:endParaRP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6C4FEFED-D75E-4EE6-AF39-1C200E21CCF4}"/>
              </a:ext>
            </a:extLst>
          </p:cNvPr>
          <p:cNvSpPr txBox="1"/>
          <p:nvPr/>
        </p:nvSpPr>
        <p:spPr>
          <a:xfrm>
            <a:off x="9309100" y="2108200"/>
            <a:ext cx="15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F5A623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28" name="Rectángulo: esquinas redondeadas 127">
            <a:extLst>
              <a:ext uri="{FF2B5EF4-FFF2-40B4-BE49-F238E27FC236}">
                <a16:creationId xmlns:a16="http://schemas.microsoft.com/office/drawing/2014/main" id="{0E98D389-4C0D-4754-B206-388D521EF7FD}"/>
              </a:ext>
            </a:extLst>
          </p:cNvPr>
          <p:cNvSpPr/>
          <p:nvPr/>
        </p:nvSpPr>
        <p:spPr>
          <a:xfrm>
            <a:off x="9448800" y="1524000"/>
            <a:ext cx="2082800" cy="1524000"/>
          </a:xfrm>
          <a:prstGeom prst="round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29" name="Elipse 128">
            <a:extLst>
              <a:ext uri="{FF2B5EF4-FFF2-40B4-BE49-F238E27FC236}">
                <a16:creationId xmlns:a16="http://schemas.microsoft.com/office/drawing/2014/main" id="{6D3D6B2A-E7D9-44F7-B88B-6D4E94E5D2C7}"/>
              </a:ext>
            </a:extLst>
          </p:cNvPr>
          <p:cNvSpPr/>
          <p:nvPr/>
        </p:nvSpPr>
        <p:spPr>
          <a:xfrm>
            <a:off x="10236200" y="1625600"/>
            <a:ext cx="508000" cy="508000"/>
          </a:xfrm>
          <a:prstGeom prst="ellipse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0F172A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F5282BA2-723A-4580-ACBB-DD0FBE691932}"/>
              </a:ext>
            </a:extLst>
          </p:cNvPr>
          <p:cNvSpPr txBox="1"/>
          <p:nvPr/>
        </p:nvSpPr>
        <p:spPr>
          <a:xfrm>
            <a:off x="9575800" y="21844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F5A623"/>
                </a:solidFill>
                <a:latin typeface="Segoe UI"/>
                <a:cs typeface="Segoe UI"/>
              </a:rPr>
              <a:t>Acción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C53FDE2B-F831-45E7-A03D-0EF3068A0652}"/>
              </a:ext>
            </a:extLst>
          </p:cNvPr>
          <p:cNvSpPr txBox="1"/>
          <p:nvPr/>
        </p:nvSpPr>
        <p:spPr>
          <a:xfrm>
            <a:off x="9575800" y="2489200"/>
            <a:ext cx="1828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100">
                <a:solidFill>
                  <a:srgbClr val="CBD5E1"/>
                </a:solidFill>
                <a:latin typeface="Segoe UI"/>
                <a:cs typeface="Segoe UI"/>
              </a:rPr>
              <a:t>Lead caliente: alerta al abogado</a:t>
            </a:r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D2E53578-2DF5-44F2-919A-A695F4196F04}"/>
              </a:ext>
            </a:extLst>
          </p:cNvPr>
          <p:cNvSpPr txBox="1"/>
          <p:nvPr/>
        </p:nvSpPr>
        <p:spPr>
          <a:xfrm>
            <a:off x="508000" y="32766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0F172A"/>
                </a:solidFill>
                <a:latin typeface="Segoe UI"/>
                <a:cs typeface="Segoe UI"/>
              </a:rPr>
              <a:t>Quién lo usa</a:t>
            </a:r>
          </a:p>
        </p:txBody>
      </p:sp>
      <p:sp>
        <p:nvSpPr>
          <p:cNvPr id="133" name="Rectángulo 132">
            <a:extLst>
              <a:ext uri="{FF2B5EF4-FFF2-40B4-BE49-F238E27FC236}">
                <a16:creationId xmlns:a16="http://schemas.microsoft.com/office/drawing/2014/main" id="{22619217-88B2-43BF-BA0E-61B252BB8106}"/>
              </a:ext>
            </a:extLst>
          </p:cNvPr>
          <p:cNvSpPr/>
          <p:nvPr/>
        </p:nvSpPr>
        <p:spPr>
          <a:xfrm>
            <a:off x="584200" y="3695700"/>
            <a:ext cx="50800" cy="1778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12FC1627-8973-4443-8A88-2043987D2BEF}"/>
              </a:ext>
            </a:extLst>
          </p:cNvPr>
          <p:cNvSpPr txBox="1"/>
          <p:nvPr/>
        </p:nvSpPr>
        <p:spPr>
          <a:xfrm>
            <a:off x="736600" y="36576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Abogados (7)</a:t>
            </a: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D07B7188-0690-4250-B898-EDA129959F91}"/>
              </a:ext>
            </a:extLst>
          </p:cNvPr>
          <p:cNvSpPr txBox="1"/>
          <p:nvPr/>
        </p:nvSpPr>
        <p:spPr>
          <a:xfrm>
            <a:off x="2540000" y="36576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>
                <a:solidFill>
                  <a:srgbClr val="475569"/>
                </a:solidFill>
                <a:latin typeface="Segoe UI"/>
                <a:cs typeface="Segoe UI"/>
              </a:rPr>
              <a:t>Tablero con leads priorizados</a:t>
            </a:r>
          </a:p>
        </p:txBody>
      </p:sp>
      <p:sp>
        <p:nvSpPr>
          <p:cNvPr id="136" name="Rectángulo 135">
            <a:extLst>
              <a:ext uri="{FF2B5EF4-FFF2-40B4-BE49-F238E27FC236}">
                <a16:creationId xmlns:a16="http://schemas.microsoft.com/office/drawing/2014/main" id="{A78741BE-C4D8-469D-A7CD-037C8A815E14}"/>
              </a:ext>
            </a:extLst>
          </p:cNvPr>
          <p:cNvSpPr/>
          <p:nvPr/>
        </p:nvSpPr>
        <p:spPr>
          <a:xfrm>
            <a:off x="584200" y="4229100"/>
            <a:ext cx="50800" cy="1778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1E2F7759-35F7-493B-9A8F-D60C3A20137E}"/>
              </a:ext>
            </a:extLst>
          </p:cNvPr>
          <p:cNvSpPr txBox="1"/>
          <p:nvPr/>
        </p:nvSpPr>
        <p:spPr>
          <a:xfrm>
            <a:off x="736600" y="41910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Administrador</a:t>
            </a:r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053E6D68-E733-40E2-A973-EE3852CF3837}"/>
              </a:ext>
            </a:extLst>
          </p:cNvPr>
          <p:cNvSpPr txBox="1"/>
          <p:nvPr/>
        </p:nvSpPr>
        <p:spPr>
          <a:xfrm>
            <a:off x="2540000" y="41910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Métricas de conversión y rendimiento</a:t>
            </a:r>
            <a:endParaRPr lang="es-CO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39" name="Rectángulo 138">
            <a:extLst>
              <a:ext uri="{FF2B5EF4-FFF2-40B4-BE49-F238E27FC236}">
                <a16:creationId xmlns:a16="http://schemas.microsoft.com/office/drawing/2014/main" id="{27376CE9-4701-490C-B1B7-6321460F1F21}"/>
              </a:ext>
            </a:extLst>
          </p:cNvPr>
          <p:cNvSpPr/>
          <p:nvPr/>
        </p:nvSpPr>
        <p:spPr>
          <a:xfrm>
            <a:off x="584200" y="4762500"/>
            <a:ext cx="50800" cy="1778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1C207E89-28AC-4FEB-A90D-E155F15D76DE}"/>
              </a:ext>
            </a:extLst>
          </p:cNvPr>
          <p:cNvSpPr txBox="1"/>
          <p:nvPr/>
        </p:nvSpPr>
        <p:spPr>
          <a:xfrm>
            <a:off x="736600" y="47244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Clientes</a:t>
            </a:r>
          </a:p>
        </p:txBody>
      </p: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0E9EECC9-593E-4FE5-ACC6-402C9B0BFB37}"/>
              </a:ext>
            </a:extLst>
          </p:cNvPr>
          <p:cNvSpPr txBox="1"/>
          <p:nvPr/>
        </p:nvSpPr>
        <p:spPr>
          <a:xfrm>
            <a:off x="2540000" y="47244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Portal con seguimiento de su caso</a:t>
            </a:r>
            <a:endParaRPr lang="es-CO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42" name="Rectángulo 141">
            <a:extLst>
              <a:ext uri="{FF2B5EF4-FFF2-40B4-BE49-F238E27FC236}">
                <a16:creationId xmlns:a16="http://schemas.microsoft.com/office/drawing/2014/main" id="{BFDE1D76-DD94-4395-908B-4248F30353BE}"/>
              </a:ext>
            </a:extLst>
          </p:cNvPr>
          <p:cNvSpPr/>
          <p:nvPr/>
        </p:nvSpPr>
        <p:spPr>
          <a:xfrm>
            <a:off x="584200" y="5295900"/>
            <a:ext cx="50800" cy="1778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C04E020E-7A91-4F2F-8EA1-185C217B60EA}"/>
              </a:ext>
            </a:extLst>
          </p:cNvPr>
          <p:cNvSpPr txBox="1"/>
          <p:nvPr/>
        </p:nvSpPr>
        <p:spPr>
          <a:xfrm>
            <a:off x="736600" y="52578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Visitantes</a:t>
            </a:r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D3CFB987-5CCD-48F2-9DD0-795B4036EF77}"/>
              </a:ext>
            </a:extLst>
          </p:cNvPr>
          <p:cNvSpPr txBox="1"/>
          <p:nvPr/>
        </p:nvSpPr>
        <p:spPr>
          <a:xfrm>
            <a:off x="2540000" y="52578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>
                <a:solidFill>
                  <a:srgbClr val="475569"/>
                </a:solidFill>
                <a:latin typeface="Segoe UI"/>
                <a:cs typeface="Segoe UI"/>
              </a:rPr>
              <a:t>Formulario web de contacto</a:t>
            </a:r>
          </a:p>
        </p:txBody>
      </p:sp>
      <p:sp>
        <p:nvSpPr>
          <p:cNvPr id="145" name="Rectángulo: esquinas redondeadas 144">
            <a:extLst>
              <a:ext uri="{FF2B5EF4-FFF2-40B4-BE49-F238E27FC236}">
                <a16:creationId xmlns:a16="http://schemas.microsoft.com/office/drawing/2014/main" id="{B1E281BC-3A1E-4E03-8196-2547271CE5A0}"/>
              </a:ext>
            </a:extLst>
          </p:cNvPr>
          <p:cNvSpPr/>
          <p:nvPr/>
        </p:nvSpPr>
        <p:spPr>
          <a:xfrm>
            <a:off x="6350000" y="3276600"/>
            <a:ext cx="5410200" cy="2667000"/>
          </a:xfrm>
          <a:prstGeom prst="roundRect">
            <a:avLst/>
          </a:prstGeom>
          <a:solidFill>
            <a:srgbClr val="F0F4F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153673A1-FE97-46E3-9C9F-10A1153DFE7F}"/>
              </a:ext>
            </a:extLst>
          </p:cNvPr>
          <p:cNvSpPr txBox="1"/>
          <p:nvPr/>
        </p:nvSpPr>
        <p:spPr>
          <a:xfrm>
            <a:off x="6578600" y="33782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0F172A"/>
                </a:solidFill>
                <a:latin typeface="Segoe UI"/>
                <a:cs typeface="Segoe UI"/>
              </a:rPr>
              <a:t>Escalabilidad y mantenimiento</a:t>
            </a:r>
          </a:p>
        </p:txBody>
      </p:sp>
      <p:sp>
        <p:nvSpPr>
          <p:cNvPr id="147" name="Elipse 146">
            <a:extLst>
              <a:ext uri="{FF2B5EF4-FFF2-40B4-BE49-F238E27FC236}">
                <a16:creationId xmlns:a16="http://schemas.microsoft.com/office/drawing/2014/main" id="{6AECD313-E64D-43F8-B57B-B2E005D31B94}"/>
              </a:ext>
            </a:extLst>
          </p:cNvPr>
          <p:cNvSpPr/>
          <p:nvPr/>
        </p:nvSpPr>
        <p:spPr>
          <a:xfrm>
            <a:off x="6578600" y="3822700"/>
            <a:ext cx="127000" cy="127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D4DA4237-201F-4E40-A79B-521F2B2B0F83}"/>
              </a:ext>
            </a:extLst>
          </p:cNvPr>
          <p:cNvSpPr txBox="1"/>
          <p:nvPr/>
        </p:nvSpPr>
        <p:spPr>
          <a:xfrm>
            <a:off x="6807200" y="3784600"/>
            <a:ext cx="4775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1E407A"/>
                </a:solidFill>
                <a:latin typeface="Segoe UI"/>
                <a:cs typeface="Segoe UI"/>
              </a:rPr>
              <a:t>Arquitectura modular</a:t>
            </a: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DDB14823-7C04-494B-BBE5-AABA1B0892AE}"/>
              </a:ext>
            </a:extLst>
          </p:cNvPr>
          <p:cNvSpPr txBox="1"/>
          <p:nvPr/>
        </p:nvSpPr>
        <p:spPr>
          <a:xfrm>
            <a:off x="6807200" y="4064000"/>
            <a:ext cx="4775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400">
                <a:solidFill>
                  <a:srgbClr val="475569"/>
                </a:solidFill>
                <a:latin typeface="Segoe UI"/>
                <a:cs typeface="Segoe UI"/>
              </a:rPr>
              <a:t>8 componentes independientes que escalan por separado</a:t>
            </a:r>
          </a:p>
        </p:txBody>
      </p:sp>
      <p:sp>
        <p:nvSpPr>
          <p:cNvPr id="150" name="Elipse 149">
            <a:extLst>
              <a:ext uri="{FF2B5EF4-FFF2-40B4-BE49-F238E27FC236}">
                <a16:creationId xmlns:a16="http://schemas.microsoft.com/office/drawing/2014/main" id="{4FC7C01E-11B9-4E75-811E-C7D19A195BA4}"/>
              </a:ext>
            </a:extLst>
          </p:cNvPr>
          <p:cNvSpPr/>
          <p:nvPr/>
        </p:nvSpPr>
        <p:spPr>
          <a:xfrm>
            <a:off x="6578600" y="4508500"/>
            <a:ext cx="127000" cy="127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20DC64C9-A931-410A-9C22-730D3C883A3F}"/>
              </a:ext>
            </a:extLst>
          </p:cNvPr>
          <p:cNvSpPr txBox="1"/>
          <p:nvPr/>
        </p:nvSpPr>
        <p:spPr>
          <a:xfrm>
            <a:off x="6807200" y="4470400"/>
            <a:ext cx="4775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1E407A"/>
                </a:solidFill>
                <a:latin typeface="Segoe UI"/>
                <a:cs typeface="Segoe UI"/>
              </a:rPr>
              <a:t>Costo inteligente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F585BA78-5BDB-4E0C-A2AE-DD1FD03B774D}"/>
              </a:ext>
            </a:extLst>
          </p:cNvPr>
          <p:cNvSpPr txBox="1"/>
          <p:nvPr/>
        </p:nvSpPr>
        <p:spPr>
          <a:xfrm>
            <a:off x="6807200" y="4749800"/>
            <a:ext cx="4775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Solo consume recursos con tráfico. Sin uso, costo ~$0</a:t>
            </a:r>
            <a:endParaRPr lang="es-CO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53" name="Elipse 152">
            <a:extLst>
              <a:ext uri="{FF2B5EF4-FFF2-40B4-BE49-F238E27FC236}">
                <a16:creationId xmlns:a16="http://schemas.microsoft.com/office/drawing/2014/main" id="{40B4F699-8C88-4CC7-878A-6068EBED54B6}"/>
              </a:ext>
            </a:extLst>
          </p:cNvPr>
          <p:cNvSpPr/>
          <p:nvPr/>
        </p:nvSpPr>
        <p:spPr>
          <a:xfrm>
            <a:off x="6578600" y="5194300"/>
            <a:ext cx="127000" cy="127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E6CC7AD7-772C-4005-A143-3B54127FF429}"/>
              </a:ext>
            </a:extLst>
          </p:cNvPr>
          <p:cNvSpPr txBox="1"/>
          <p:nvPr/>
        </p:nvSpPr>
        <p:spPr>
          <a:xfrm>
            <a:off x="6807200" y="5156200"/>
            <a:ext cx="4775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1E407A"/>
                </a:solidFill>
                <a:latin typeface="Segoe UI"/>
                <a:cs typeface="Segoe UI"/>
              </a:rPr>
              <a:t>Monitoreo continuo</a:t>
            </a:r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30047508-6D26-4225-A8BD-5B20CE926D3E}"/>
              </a:ext>
            </a:extLst>
          </p:cNvPr>
          <p:cNvSpPr txBox="1"/>
          <p:nvPr/>
        </p:nvSpPr>
        <p:spPr>
          <a:xfrm>
            <a:off x="6807200" y="5435600"/>
            <a:ext cx="4775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Métricas, logs y alertas para detectar problemas</a:t>
            </a:r>
            <a:endParaRPr lang="es-CO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ángulo 44">
            <a:extLst>
              <a:ext uri="{FF2B5EF4-FFF2-40B4-BE49-F238E27FC236}">
                <a16:creationId xmlns:a16="http://schemas.microsoft.com/office/drawing/2014/main" id="{C889076A-B9F0-43BD-91E9-1AD4C1647D26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C0B12C0B-31D2-4C91-9C59-3BC7954E2EEA}"/>
              </a:ext>
            </a:extLst>
          </p:cNvPr>
          <p:cNvSpPr/>
          <p:nvPr/>
        </p:nvSpPr>
        <p:spPr>
          <a:xfrm>
            <a:off x="0" y="965200"/>
            <a:ext cx="12192000" cy="381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409C23DC-8B79-45DF-89AD-AA1805C67352}"/>
              </a:ext>
            </a:extLst>
          </p:cNvPr>
          <p:cNvSpPr/>
          <p:nvPr/>
        </p:nvSpPr>
        <p:spPr>
          <a:xfrm>
            <a:off x="457200" y="203200"/>
            <a:ext cx="508000" cy="508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1600" b="1">
                <a:solidFill>
                  <a:srgbClr val="FFFFFF"/>
                </a:solidFill>
                <a:latin typeface="Segoe UI"/>
                <a:cs typeface="Segoe UI"/>
              </a:rPr>
              <a:t>07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1D6E5AA-6311-434A-8C12-838A97AA9857}"/>
              </a:ext>
            </a:extLst>
          </p:cNvPr>
          <p:cNvSpPr txBox="1"/>
          <p:nvPr/>
        </p:nvSpPr>
        <p:spPr>
          <a:xfrm>
            <a:off x="1092200" y="203200"/>
            <a:ext cx="635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400" b="1">
                <a:solidFill>
                  <a:srgbClr val="FFFFFF"/>
                </a:solidFill>
                <a:latin typeface="Segoe UI"/>
                <a:cs typeface="Segoe UI"/>
              </a:rPr>
              <a:t>Conclusión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393C060-DEF3-43B7-AA03-5F516C29159D}"/>
              </a:ext>
            </a:extLst>
          </p:cNvPr>
          <p:cNvSpPr txBox="1"/>
          <p:nvPr/>
        </p:nvSpPr>
        <p:spPr>
          <a:xfrm>
            <a:off x="1092200" y="609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>
                <a:solidFill>
                  <a:srgbClr val="B0C4DE"/>
                </a:solidFill>
                <a:latin typeface="Segoe UI"/>
                <a:cs typeface="Segoe UI"/>
              </a:rPr>
              <a:t>Valor generado y camino por recorrer</a:t>
            </a:r>
            <a:endParaRPr lang="es-CO" sz="1400">
              <a:solidFill>
                <a:srgbClr val="B0C4DE"/>
              </a:solidFill>
              <a:latin typeface="Segoe UI"/>
              <a:cs typeface="Segoe UI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8314F59-53CB-4348-9DC6-E991C4E18F7D}"/>
              </a:ext>
            </a:extLst>
          </p:cNvPr>
          <p:cNvSpPr txBox="1"/>
          <p:nvPr/>
        </p:nvSpPr>
        <p:spPr>
          <a:xfrm>
            <a:off x="457200" y="65532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Alexis Jaramillo | MIAA 2026-1 | U. Icesi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1283BA4C-3C57-4D84-9B94-9EE25B45E6C4}"/>
              </a:ext>
            </a:extLst>
          </p:cNvPr>
          <p:cNvSpPr txBox="1"/>
          <p:nvPr/>
        </p:nvSpPr>
        <p:spPr>
          <a:xfrm>
            <a:off x="11176000" y="65532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>
                <a:solidFill>
                  <a:srgbClr val="94A3B8"/>
                </a:solidFill>
                <a:latin typeface="Segoe UI"/>
                <a:cs typeface="Segoe UI"/>
              </a:rPr>
              <a:t>10/11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2861A84-7D37-4B91-B1BF-23CD43B496A8}"/>
              </a:ext>
            </a:extLst>
          </p:cNvPr>
          <p:cNvSpPr txBox="1"/>
          <p:nvPr/>
        </p:nvSpPr>
        <p:spPr>
          <a:xfrm>
            <a:off x="457200" y="1422400"/>
            <a:ext cx="558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600" b="1">
                <a:solidFill>
                  <a:srgbClr val="0F172A"/>
                </a:solidFill>
                <a:latin typeface="Segoe UI"/>
                <a:cs typeface="Segoe UI"/>
              </a:rPr>
              <a:t>Valor generado por el proyecto</a:t>
            </a:r>
            <a:endParaRPr lang="es-CO" sz="1600" b="1">
              <a:solidFill>
                <a:srgbClr val="0F172A"/>
              </a:solidFill>
              <a:latin typeface="Segoe UI"/>
              <a:cs typeface="Segoe UI"/>
            </a:endParaRP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36FB4060-606F-41F2-9491-B136AC183918}"/>
              </a:ext>
            </a:extLst>
          </p:cNvPr>
          <p:cNvSpPr/>
          <p:nvPr/>
        </p:nvSpPr>
        <p:spPr>
          <a:xfrm>
            <a:off x="533400" y="1828800"/>
            <a:ext cx="50800" cy="4826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DAF733D-85B3-400A-8B44-63ED050CB628}"/>
              </a:ext>
            </a:extLst>
          </p:cNvPr>
          <p:cNvSpPr txBox="1"/>
          <p:nvPr/>
        </p:nvSpPr>
        <p:spPr>
          <a:xfrm>
            <a:off x="711200" y="18034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Transformación digital real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B3BF714-1E42-48A0-A518-7ECABDBBF8D1}"/>
              </a:ext>
            </a:extLst>
          </p:cNvPr>
          <p:cNvSpPr txBox="1"/>
          <p:nvPr/>
        </p:nvSpPr>
        <p:spPr>
          <a:xfrm>
            <a:off x="711200" y="2070100"/>
            <a:ext cx="520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64748B"/>
                </a:solidFill>
                <a:latin typeface="Segoe UI"/>
                <a:cs typeface="Segoe UI"/>
              </a:rPr>
              <a:t>De Excel y llamadas a plataforma inteligente con IA</a:t>
            </a:r>
            <a:endParaRPr lang="es-CO" sz="1200">
              <a:solidFill>
                <a:srgbClr val="64748B"/>
              </a:solidFill>
              <a:latin typeface="Segoe UI"/>
              <a:cs typeface="Segoe UI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E8B2A1F7-483C-4392-AB57-5E937B1EF5AF}"/>
              </a:ext>
            </a:extLst>
          </p:cNvPr>
          <p:cNvSpPr/>
          <p:nvPr/>
        </p:nvSpPr>
        <p:spPr>
          <a:xfrm>
            <a:off x="533400" y="2438400"/>
            <a:ext cx="50800" cy="4826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AF2D6853-A4D4-4514-832A-51EE4B001C4A}"/>
              </a:ext>
            </a:extLst>
          </p:cNvPr>
          <p:cNvSpPr txBox="1"/>
          <p:nvPr/>
        </p:nvSpPr>
        <p:spPr>
          <a:xfrm>
            <a:off x="711200" y="24130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 b="1">
                <a:solidFill>
                  <a:srgbClr val="0F172A"/>
                </a:solidFill>
                <a:latin typeface="Segoe UI"/>
                <a:cs typeface="Segoe UI"/>
              </a:rPr>
              <a:t>Velocidad de respuesta sin precedentes</a:t>
            </a:r>
            <a:endParaRPr lang="es-CO" sz="1400" b="1">
              <a:solidFill>
                <a:srgbClr val="0F172A"/>
              </a:solidFill>
              <a:latin typeface="Segoe UI"/>
              <a:cs typeface="Segoe UI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09F4F11-83C7-42DD-8467-5E2F075927D9}"/>
              </a:ext>
            </a:extLst>
          </p:cNvPr>
          <p:cNvSpPr txBox="1"/>
          <p:nvPr/>
        </p:nvSpPr>
        <p:spPr>
          <a:xfrm>
            <a:off x="711200" y="2679700"/>
            <a:ext cx="520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64748B"/>
                </a:solidFill>
                <a:latin typeface="Segoe UI"/>
                <a:cs typeface="Segoe UI"/>
              </a:rPr>
              <a:t>De 4.8 horas a menos de 1 minuto en respuesta</a:t>
            </a:r>
            <a:endParaRPr lang="es-CO" sz="1200">
              <a:solidFill>
                <a:srgbClr val="64748B"/>
              </a:solidFill>
              <a:latin typeface="Segoe UI"/>
              <a:cs typeface="Segoe UI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C18A168-6165-44B6-99F0-F87C3C5023B4}"/>
              </a:ext>
            </a:extLst>
          </p:cNvPr>
          <p:cNvSpPr/>
          <p:nvPr/>
        </p:nvSpPr>
        <p:spPr>
          <a:xfrm>
            <a:off x="533400" y="3048000"/>
            <a:ext cx="50800" cy="4826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56AA18B6-15E2-46E0-B2DB-191677FA15C1}"/>
              </a:ext>
            </a:extLst>
          </p:cNvPr>
          <p:cNvSpPr txBox="1"/>
          <p:nvPr/>
        </p:nvSpPr>
        <p:spPr>
          <a:xfrm>
            <a:off x="711200" y="30226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 b="1">
                <a:solidFill>
                  <a:srgbClr val="0F172A"/>
                </a:solidFill>
                <a:latin typeface="Segoe UI"/>
                <a:cs typeface="Segoe UI"/>
              </a:rPr>
              <a:t>Escalabilidad sin contratar más personal</a:t>
            </a:r>
            <a:endParaRPr lang="es-CO" sz="1400" b="1">
              <a:solidFill>
                <a:srgbClr val="0F172A"/>
              </a:solidFill>
              <a:latin typeface="Segoe UI"/>
              <a:cs typeface="Segoe UI"/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F4CD854-B342-46A7-9F43-C7334C47361E}"/>
              </a:ext>
            </a:extLst>
          </p:cNvPr>
          <p:cNvSpPr txBox="1"/>
          <p:nvPr/>
        </p:nvSpPr>
        <p:spPr>
          <a:xfrm>
            <a:off x="711200" y="3289300"/>
            <a:ext cx="520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64748B"/>
                </a:solidFill>
                <a:latin typeface="Segoe UI"/>
                <a:cs typeface="Segoe UI"/>
              </a:rPr>
              <a:t>De 20 a 300+ leads/mes con el mismo equipo</a:t>
            </a:r>
            <a:endParaRPr lang="es-CO" sz="1200">
              <a:solidFill>
                <a:srgbClr val="64748B"/>
              </a:solidFill>
              <a:latin typeface="Segoe UI"/>
              <a:cs typeface="Segoe UI"/>
            </a:endParaRP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57F8B50A-9E19-439A-A3F8-E10927CD632D}"/>
              </a:ext>
            </a:extLst>
          </p:cNvPr>
          <p:cNvSpPr/>
          <p:nvPr/>
        </p:nvSpPr>
        <p:spPr>
          <a:xfrm>
            <a:off x="533400" y="3657600"/>
            <a:ext cx="50800" cy="4826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F9D43E0-AA77-4710-8250-5B4ACAECB0F1}"/>
              </a:ext>
            </a:extLst>
          </p:cNvPr>
          <p:cNvSpPr txBox="1"/>
          <p:nvPr/>
        </p:nvSpPr>
        <p:spPr>
          <a:xfrm>
            <a:off x="711200" y="36322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 b="1">
                <a:solidFill>
                  <a:srgbClr val="0F172A"/>
                </a:solidFill>
                <a:latin typeface="Segoe UI"/>
                <a:cs typeface="Segoe UI"/>
              </a:rPr>
              <a:t>Innovación única en el mercado colombiano</a:t>
            </a:r>
            <a:endParaRPr lang="es-CO" sz="1400" b="1">
              <a:solidFill>
                <a:srgbClr val="0F172A"/>
              </a:solidFill>
              <a:latin typeface="Segoe UI"/>
              <a:cs typeface="Segoe UI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76FC10B0-FD5A-485D-AD9D-DF4E7D4B93A5}"/>
              </a:ext>
            </a:extLst>
          </p:cNvPr>
          <p:cNvSpPr txBox="1"/>
          <p:nvPr/>
        </p:nvSpPr>
        <p:spPr>
          <a:xfrm>
            <a:off x="711200" y="3898900"/>
            <a:ext cx="520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64748B"/>
                </a:solidFill>
                <a:latin typeface="Segoe UI"/>
                <a:cs typeface="Segoe UI"/>
              </a:rPr>
              <a:t>Primera LegalTech sobre legislación colombiana</a:t>
            </a:r>
            <a:endParaRPr lang="es-CO" sz="1200">
              <a:solidFill>
                <a:srgbClr val="64748B"/>
              </a:solidFill>
              <a:latin typeface="Segoe UI"/>
              <a:cs typeface="Segoe UI"/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8471E833-64DC-4FCA-9B89-88CE542C86B1}"/>
              </a:ext>
            </a:extLst>
          </p:cNvPr>
          <p:cNvSpPr/>
          <p:nvPr/>
        </p:nvSpPr>
        <p:spPr>
          <a:xfrm>
            <a:off x="533400" y="4267200"/>
            <a:ext cx="50800" cy="4826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54C6D1D8-C92F-4BD0-A8EF-AC164DED1410}"/>
              </a:ext>
            </a:extLst>
          </p:cNvPr>
          <p:cNvSpPr txBox="1"/>
          <p:nvPr/>
        </p:nvSpPr>
        <p:spPr>
          <a:xfrm>
            <a:off x="711200" y="42418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0F172A"/>
                </a:solidFill>
                <a:latin typeface="Segoe UI"/>
                <a:cs typeface="Segoe UI"/>
              </a:rPr>
              <a:t>Retorno de inversión demostrado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E8219419-5B17-4DF4-938D-125C688220B4}"/>
              </a:ext>
            </a:extLst>
          </p:cNvPr>
          <p:cNvSpPr txBox="1"/>
          <p:nvPr/>
        </p:nvSpPr>
        <p:spPr>
          <a:xfrm>
            <a:off x="711200" y="4508500"/>
            <a:ext cx="520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64748B"/>
                </a:solidFill>
                <a:latin typeface="Segoe UI"/>
                <a:cs typeface="Segoe UI"/>
              </a:rPr>
              <a:t>$72M COP/año recuperados vs $50M inversión. ROI &lt; 6 meses</a:t>
            </a:r>
            <a:endParaRPr lang="es-CO" sz="1200">
              <a:solidFill>
                <a:srgbClr val="64748B"/>
              </a:solidFill>
              <a:latin typeface="Segoe UI"/>
              <a:cs typeface="Segoe UI"/>
            </a:endParaRP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F03033A0-F7FE-4003-9A6D-230F74E32997}"/>
              </a:ext>
            </a:extLst>
          </p:cNvPr>
          <p:cNvSpPr txBox="1"/>
          <p:nvPr/>
        </p:nvSpPr>
        <p:spPr>
          <a:xfrm>
            <a:off x="6477000" y="14224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0F172A"/>
                </a:solidFill>
                <a:latin typeface="Segoe UI"/>
                <a:cs typeface="Segoe UI"/>
              </a:rPr>
              <a:t>Siguientes pasos</a:t>
            </a:r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01B77B2E-C59B-49DE-A1C3-8DADA5C91EA1}"/>
              </a:ext>
            </a:extLst>
          </p:cNvPr>
          <p:cNvSpPr/>
          <p:nvPr/>
        </p:nvSpPr>
        <p:spPr>
          <a:xfrm>
            <a:off x="6553200" y="1854200"/>
            <a:ext cx="127000" cy="127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15D2D087-B394-4D37-8E42-1353E8B0575F}"/>
              </a:ext>
            </a:extLst>
          </p:cNvPr>
          <p:cNvSpPr/>
          <p:nvPr/>
        </p:nvSpPr>
        <p:spPr>
          <a:xfrm>
            <a:off x="6604000" y="1993900"/>
            <a:ext cx="25400" cy="431800"/>
          </a:xfrm>
          <a:prstGeom prst="rect">
            <a:avLst/>
          </a:prstGeom>
          <a:solidFill>
            <a:srgbClr val="CBD5E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14415ED4-969B-4799-96B8-DA49D8165E02}"/>
              </a:ext>
            </a:extLst>
          </p:cNvPr>
          <p:cNvSpPr txBox="1"/>
          <p:nvPr/>
        </p:nvSpPr>
        <p:spPr>
          <a:xfrm>
            <a:off x="6781800" y="18034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1E407A"/>
                </a:solidFill>
                <a:latin typeface="Segoe UI"/>
                <a:cs typeface="Segoe UI"/>
              </a:rPr>
              <a:t>Abril 2026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19C33AB1-93A0-4DAF-BBAB-1ED53A0EFCF5}"/>
              </a:ext>
            </a:extLst>
          </p:cNvPr>
          <p:cNvSpPr txBox="1"/>
          <p:nvPr/>
        </p:nvSpPr>
        <p:spPr>
          <a:xfrm>
            <a:off x="6781800" y="2057400"/>
            <a:ext cx="495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475569"/>
                </a:solidFill>
                <a:latin typeface="Segoe UI"/>
                <a:cs typeface="Segoe UI"/>
              </a:rPr>
              <a:t>Lanzamiento del MVP con captura de leads y scoring</a:t>
            </a:r>
            <a:endParaRPr lang="es-CO" sz="12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9A2947E3-E376-4379-B45F-7237D53799D7}"/>
              </a:ext>
            </a:extLst>
          </p:cNvPr>
          <p:cNvSpPr/>
          <p:nvPr/>
        </p:nvSpPr>
        <p:spPr>
          <a:xfrm>
            <a:off x="6553200" y="2413000"/>
            <a:ext cx="127000" cy="127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DA872E5A-688F-4D4D-8AA8-C8C33CADE798}"/>
              </a:ext>
            </a:extLst>
          </p:cNvPr>
          <p:cNvSpPr/>
          <p:nvPr/>
        </p:nvSpPr>
        <p:spPr>
          <a:xfrm>
            <a:off x="6604000" y="2552700"/>
            <a:ext cx="25400" cy="431800"/>
          </a:xfrm>
          <a:prstGeom prst="rect">
            <a:avLst/>
          </a:prstGeom>
          <a:solidFill>
            <a:srgbClr val="CBD5E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54DF760F-C949-4A8E-9088-A3575FBDC22D}"/>
              </a:ext>
            </a:extLst>
          </p:cNvPr>
          <p:cNvSpPr txBox="1"/>
          <p:nvPr/>
        </p:nvSpPr>
        <p:spPr>
          <a:xfrm>
            <a:off x="6781800" y="23622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1E407A"/>
                </a:solidFill>
                <a:latin typeface="Segoe UI"/>
                <a:cs typeface="Segoe UI"/>
              </a:rPr>
              <a:t>Mayo-Junio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24960972-1E44-4081-BBE2-41C7E9375BEF}"/>
              </a:ext>
            </a:extLst>
          </p:cNvPr>
          <p:cNvSpPr txBox="1"/>
          <p:nvPr/>
        </p:nvSpPr>
        <p:spPr>
          <a:xfrm>
            <a:off x="6781800" y="2616200"/>
            <a:ext cx="495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 dirty="0">
                <a:solidFill>
                  <a:srgbClr val="475569"/>
                </a:solidFill>
                <a:latin typeface="Segoe UI"/>
                <a:cs typeface="Segoe UI"/>
              </a:rPr>
              <a:t>Evolución del </a:t>
            </a:r>
            <a:r>
              <a:rPr lang="es-MX" sz="1200" dirty="0" err="1">
                <a:solidFill>
                  <a:srgbClr val="475569"/>
                </a:solidFill>
                <a:latin typeface="Segoe UI"/>
                <a:cs typeface="Segoe UI"/>
              </a:rPr>
              <a:t>scoring</a:t>
            </a:r>
            <a:r>
              <a:rPr lang="es-MX" sz="1200" dirty="0">
                <a:solidFill>
                  <a:srgbClr val="475569"/>
                </a:solidFill>
                <a:latin typeface="Segoe UI"/>
                <a:cs typeface="Segoe UI"/>
              </a:rPr>
              <a:t> a ML con datos recolectados</a:t>
            </a:r>
            <a:endParaRPr lang="es-CO" sz="1200" dirty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99" name="Elipse 98">
            <a:extLst>
              <a:ext uri="{FF2B5EF4-FFF2-40B4-BE49-F238E27FC236}">
                <a16:creationId xmlns:a16="http://schemas.microsoft.com/office/drawing/2014/main" id="{6C09F581-B7AC-46E1-8043-7F13CEB52C1E}"/>
              </a:ext>
            </a:extLst>
          </p:cNvPr>
          <p:cNvSpPr/>
          <p:nvPr/>
        </p:nvSpPr>
        <p:spPr>
          <a:xfrm>
            <a:off x="6553200" y="2971800"/>
            <a:ext cx="127000" cy="127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6B0133B2-63E8-4392-ADF6-AAA66704567C}"/>
              </a:ext>
            </a:extLst>
          </p:cNvPr>
          <p:cNvSpPr/>
          <p:nvPr/>
        </p:nvSpPr>
        <p:spPr>
          <a:xfrm>
            <a:off x="6604000" y="3111500"/>
            <a:ext cx="25400" cy="431800"/>
          </a:xfrm>
          <a:prstGeom prst="rect">
            <a:avLst/>
          </a:prstGeom>
          <a:solidFill>
            <a:srgbClr val="CBD5E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EBBFEA8-4DE2-48FC-88A1-92609982781F}"/>
              </a:ext>
            </a:extLst>
          </p:cNvPr>
          <p:cNvSpPr txBox="1"/>
          <p:nvPr/>
        </p:nvSpPr>
        <p:spPr>
          <a:xfrm>
            <a:off x="6781800" y="29210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1E407A"/>
                </a:solidFill>
                <a:latin typeface="Segoe UI"/>
                <a:cs typeface="Segoe UI"/>
              </a:rPr>
              <a:t>Julio-Sept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A012AEB7-E67C-40EA-A529-E6F0A6138F52}"/>
              </a:ext>
            </a:extLst>
          </p:cNvPr>
          <p:cNvSpPr txBox="1"/>
          <p:nvPr/>
        </p:nvSpPr>
        <p:spPr>
          <a:xfrm>
            <a:off x="6781800" y="3175000"/>
            <a:ext cx="495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200" dirty="0">
                <a:solidFill>
                  <a:srgbClr val="475569"/>
                </a:solidFill>
                <a:latin typeface="Segoe UI"/>
                <a:cs typeface="Segoe UI"/>
              </a:rPr>
              <a:t>Asistente conversacional con IA generativa</a:t>
            </a: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5142EE3D-75CC-451D-ABF1-65CFFA71F38F}"/>
              </a:ext>
            </a:extLst>
          </p:cNvPr>
          <p:cNvSpPr/>
          <p:nvPr/>
        </p:nvSpPr>
        <p:spPr>
          <a:xfrm>
            <a:off x="6553200" y="3530600"/>
            <a:ext cx="127000" cy="127000"/>
          </a:xfrm>
          <a:prstGeom prst="ellipse">
            <a:avLst/>
          </a:prstGeom>
          <a:solidFill>
            <a:srgbClr val="1E40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487627CD-EE0B-4B64-BC03-19E9F7859385}"/>
              </a:ext>
            </a:extLst>
          </p:cNvPr>
          <p:cNvSpPr txBox="1"/>
          <p:nvPr/>
        </p:nvSpPr>
        <p:spPr>
          <a:xfrm>
            <a:off x="6781800" y="34798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1E407A"/>
                </a:solidFill>
                <a:latin typeface="Segoe UI"/>
                <a:cs typeface="Segoe UI"/>
              </a:rPr>
              <a:t>Oct-Dic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1C692FC6-3056-4EAB-A6D6-AD894A10E934}"/>
              </a:ext>
            </a:extLst>
          </p:cNvPr>
          <p:cNvSpPr txBox="1"/>
          <p:nvPr/>
        </p:nvSpPr>
        <p:spPr>
          <a:xfrm>
            <a:off x="6781800" y="3733800"/>
            <a:ext cx="495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200" dirty="0">
                <a:solidFill>
                  <a:srgbClr val="475569"/>
                </a:solidFill>
                <a:latin typeface="Segoe UI"/>
                <a:cs typeface="Segoe UI"/>
              </a:rPr>
              <a:t>Posición de la marca y éxito en integración de procesos </a:t>
            </a:r>
            <a:r>
              <a:rPr lang="es-CO" sz="1200" dirty="0" err="1">
                <a:solidFill>
                  <a:srgbClr val="475569"/>
                </a:solidFill>
                <a:latin typeface="Segoe UI"/>
                <a:cs typeface="Segoe UI"/>
              </a:rPr>
              <a:t>tech</a:t>
            </a:r>
            <a:endParaRPr lang="es-CO" sz="1200" dirty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06" name="Rectángulo: esquinas redondeadas 105">
            <a:extLst>
              <a:ext uri="{FF2B5EF4-FFF2-40B4-BE49-F238E27FC236}">
                <a16:creationId xmlns:a16="http://schemas.microsoft.com/office/drawing/2014/main" id="{4A803260-FD2E-445D-B0BC-BADBA3251CA9}"/>
              </a:ext>
            </a:extLst>
          </p:cNvPr>
          <p:cNvSpPr/>
          <p:nvPr/>
        </p:nvSpPr>
        <p:spPr>
          <a:xfrm>
            <a:off x="6477000" y="4114800"/>
            <a:ext cx="5334000" cy="787400"/>
          </a:xfrm>
          <a:prstGeom prst="roundRect">
            <a:avLst/>
          </a:prstGeom>
          <a:solidFill>
            <a:srgbClr val="F0F4F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B3D99C57-9DCB-48C7-95C3-FB24A548A7F2}"/>
              </a:ext>
            </a:extLst>
          </p:cNvPr>
          <p:cNvSpPr txBox="1"/>
          <p:nvPr/>
        </p:nvSpPr>
        <p:spPr>
          <a:xfrm>
            <a:off x="6654800" y="41656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b="1">
                <a:solidFill>
                  <a:srgbClr val="1E407A"/>
                </a:solidFill>
                <a:latin typeface="Segoe UI"/>
                <a:cs typeface="Segoe UI"/>
              </a:rPr>
              <a:t>Recorrido CRISP-DM completo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93F34460-7AFA-42A0-8355-31D65E388EB5}"/>
              </a:ext>
            </a:extLst>
          </p:cNvPr>
          <p:cNvSpPr txBox="1"/>
          <p:nvPr/>
        </p:nvSpPr>
        <p:spPr>
          <a:xfrm>
            <a:off x="6654800" y="4419600"/>
            <a:ext cx="4978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475569"/>
                </a:solidFill>
                <a:latin typeface="Segoe UI"/>
                <a:cs typeface="Segoe UI"/>
              </a:rPr>
              <a:t>Negocio → Datos → Preparación → Modelo → Evaluación → Despliegue</a:t>
            </a:r>
            <a:endParaRPr lang="es-CO" sz="12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09" name="Rectángulo: esquinas redondeadas 108">
            <a:extLst>
              <a:ext uri="{FF2B5EF4-FFF2-40B4-BE49-F238E27FC236}">
                <a16:creationId xmlns:a16="http://schemas.microsoft.com/office/drawing/2014/main" id="{40C4F05F-5FC2-47CA-9C43-86FE85BE3B47}"/>
              </a:ext>
            </a:extLst>
          </p:cNvPr>
          <p:cNvSpPr/>
          <p:nvPr/>
        </p:nvSpPr>
        <p:spPr>
          <a:xfrm>
            <a:off x="508000" y="5232400"/>
            <a:ext cx="11303000" cy="660400"/>
          </a:xfrm>
          <a:prstGeom prst="round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32B302E2-FCDB-480E-99D7-359411D07157}"/>
              </a:ext>
            </a:extLst>
          </p:cNvPr>
          <p:cNvSpPr/>
          <p:nvPr/>
        </p:nvSpPr>
        <p:spPr>
          <a:xfrm>
            <a:off x="508000" y="5232400"/>
            <a:ext cx="63500" cy="6604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A215A404-6939-41CC-B567-C9E35E7C8002}"/>
              </a:ext>
            </a:extLst>
          </p:cNvPr>
          <p:cNvSpPr txBox="1"/>
          <p:nvPr/>
        </p:nvSpPr>
        <p:spPr>
          <a:xfrm>
            <a:off x="736600" y="5308600"/>
            <a:ext cx="1089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s-MX" sz="1500" dirty="0">
                <a:solidFill>
                  <a:srgbClr val="F5A623"/>
                </a:solidFill>
                <a:latin typeface="Segoe UI"/>
                <a:cs typeface="Segoe UI"/>
              </a:rPr>
              <a:t>"La clave no es la tecnología más sofisticada, sino la correcta comprensión del problema y los datos."</a:t>
            </a:r>
            <a:endParaRPr lang="es-CO" sz="1500" dirty="0">
              <a:solidFill>
                <a:srgbClr val="F5A623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88ED2BDA-B809-45DB-AE5E-613ED7981597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4173018-B41E-4250-BBB5-61B176D1B417}"/>
              </a:ext>
            </a:extLst>
          </p:cNvPr>
          <p:cNvSpPr txBox="1"/>
          <p:nvPr/>
        </p:nvSpPr>
        <p:spPr>
          <a:xfrm>
            <a:off x="2286000" y="1397000"/>
            <a:ext cx="762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400" b="1">
                <a:solidFill>
                  <a:srgbClr val="F5A623"/>
                </a:solidFill>
                <a:latin typeface="Segoe UI"/>
                <a:cs typeface="Segoe UI"/>
              </a:rPr>
              <a:t>ASISTENTE VIRTUAL LEGAL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E6F98AE-37D1-4ED8-B4AF-EE7279632163}"/>
              </a:ext>
            </a:extLst>
          </p:cNvPr>
          <p:cNvSpPr/>
          <p:nvPr/>
        </p:nvSpPr>
        <p:spPr>
          <a:xfrm>
            <a:off x="5588000" y="1879600"/>
            <a:ext cx="1016000" cy="381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5704C7F-B2D7-4A77-875D-BEE4123D6FD6}"/>
              </a:ext>
            </a:extLst>
          </p:cNvPr>
          <p:cNvSpPr txBox="1"/>
          <p:nvPr/>
        </p:nvSpPr>
        <p:spPr>
          <a:xfrm>
            <a:off x="2286000" y="2273300"/>
            <a:ext cx="7620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6400" b="1" dirty="0">
                <a:solidFill>
                  <a:srgbClr val="FFFFFF"/>
                </a:solidFill>
                <a:latin typeface="Segoe UI"/>
                <a:cs typeface="Segoe UI"/>
              </a:rPr>
              <a:t>Gracias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293AD36-C2C7-4564-82E6-ECADC7E18304}"/>
              </a:ext>
            </a:extLst>
          </p:cNvPr>
          <p:cNvSpPr txBox="1"/>
          <p:nvPr/>
        </p:nvSpPr>
        <p:spPr>
          <a:xfrm>
            <a:off x="6692490" y="2391287"/>
            <a:ext cx="3503561" cy="1257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4400" dirty="0">
                <a:solidFill>
                  <a:srgbClr val="A0BCE0"/>
                </a:solidFill>
                <a:latin typeface="Segoe UI"/>
                <a:cs typeface="Segoe UI"/>
              </a:rPr>
              <a:t>¿Preguntas?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7ED5539-06EB-433A-BC1D-4E54A44B8C19}"/>
              </a:ext>
            </a:extLst>
          </p:cNvPr>
          <p:cNvSpPr/>
          <p:nvPr/>
        </p:nvSpPr>
        <p:spPr>
          <a:xfrm>
            <a:off x="5588000" y="4038600"/>
            <a:ext cx="1016000" cy="381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C8AEDCD-3C09-4D56-85F8-46E9F53DED93}"/>
              </a:ext>
            </a:extLst>
          </p:cNvPr>
          <p:cNvSpPr txBox="1"/>
          <p:nvPr/>
        </p:nvSpPr>
        <p:spPr>
          <a:xfrm>
            <a:off x="2286000" y="4343400"/>
            <a:ext cx="762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b="1">
                <a:solidFill>
                  <a:srgbClr val="FFFFFF"/>
                </a:solidFill>
                <a:latin typeface="Segoe UI"/>
                <a:cs typeface="Segoe UI"/>
              </a:rPr>
              <a:t>Alexis Jaramillo Martínez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0E18C8B-A9C1-48CC-B9AA-135C5E33FD29}"/>
              </a:ext>
            </a:extLst>
          </p:cNvPr>
          <p:cNvSpPr txBox="1"/>
          <p:nvPr/>
        </p:nvSpPr>
        <p:spPr>
          <a:xfrm>
            <a:off x="2286000" y="47752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500">
                <a:solidFill>
                  <a:srgbClr val="A0BCE0"/>
                </a:solidFill>
                <a:latin typeface="Segoe UI"/>
                <a:cs typeface="Segoe UI"/>
              </a:rPr>
              <a:t>Maestría en IA Aplicada  —  Universidad Icesi  —  2026-1</a:t>
            </a:r>
            <a:endParaRPr lang="es-CO" sz="1500">
              <a:solidFill>
                <a:srgbClr val="A0BCE0"/>
              </a:solidFill>
              <a:latin typeface="Segoe UI"/>
              <a:cs typeface="Segoe UI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269F3C5-0DA4-4AE8-9B95-68E7A195DC43}"/>
              </a:ext>
            </a:extLst>
          </p:cNvPr>
          <p:cNvSpPr txBox="1"/>
          <p:nvPr/>
        </p:nvSpPr>
        <p:spPr>
          <a:xfrm>
            <a:off x="2286000" y="52070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500">
                <a:solidFill>
                  <a:srgbClr val="F5A623"/>
                </a:solidFill>
                <a:latin typeface="Segoe UI"/>
                <a:cs typeface="Segoe UI"/>
              </a:rPr>
              <a:t>carrilloabgd.com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9DF8997-87E0-4652-8FFF-94435D778EAB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F5A62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B795EC2-ED54-4BA6-B1E2-A4288EB7B183}">
  <we:reference id="wa200010001" version="1.0.0.1" store="es-ES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1718</Words>
  <Application>Microsoft Office PowerPoint</Application>
  <PresentationFormat>Panorámica</PresentationFormat>
  <Paragraphs>239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Alexis Jaramillo</cp:lastModifiedBy>
  <cp:revision>4</cp:revision>
  <dcterms:created xsi:type="dcterms:W3CDTF">2013-01-27T09:14:16Z</dcterms:created>
  <dcterms:modified xsi:type="dcterms:W3CDTF">2026-03-14T12:39:18Z</dcterms:modified>
  <cp:category/>
</cp:coreProperties>
</file>